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Lst>
  <p:notesMasterIdLst>
    <p:notesMasterId r:id="rId8"/>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10c70f09-3b2f-df8b-8625-e9f28a3ab146}">
          <p14:sldIdLst>
            <p14:sldId id="256"/>
          </p14:sldIdLst>
        </p14:section>
        <p14:section name="Problem" id="{42a0836a-fa38-45b3-24f1-f2bf01c8c040}">
          <p14:sldIdLst>
            <p14:sldId id="257"/>
          </p14:sldIdLst>
        </p14:section>
        <p14:section name="Dynamic Programming" id="{f272aa56-c4fe-2ec3-2738-3dcaedabf6c9}">
          <p14:sldIdLst>
            <p14:sldId id="258"/>
          </p14:sldIdLst>
        </p14:section>
        <p14:section name="DP Table" id="{9ee8b716-d988-784c-1a58-85209875e20e}">
          <p14:sldIdLst>
            <p14:sldId id="259"/>
          </p14:sldIdLst>
        </p14:section>
        <p14:section name="Algorithm" id="{bca2d02b-45d8-1b7f-8eca-073a90c587e9}">
          <p14:sldIdLst>
            <p14:sldId id="260"/>
          </p14:sldIdLst>
        </p14:section>
        <p14:section name="Wrap-up" id="{27e60b2b-210e-8c1d-db7e-916f67388bc7}">
          <p14:sldIdLst>
            <p14:sldId id="261"/>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notesMaster" Target="notesMasters/notesMaster1.xml"/><Relationship Id="rId9" Type="http://schemas.openxmlformats.org/officeDocument/2006/relationships/presProps" Target="presProps.xml"/><Relationship Id="rId10" Type="http://schemas.openxmlformats.org/officeDocument/2006/relationships/viewProps" Target="viewProps.xml"/><Relationship Id="rId11" Type="http://schemas.openxmlformats.org/officeDocument/2006/relationships/theme" Target="theme/theme1.xml"/><Relationship Id="rId1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LCS: given two strings, find the longest sequence of characters that appears in both in the same order. Subsequence differs from substring because characters need not be adjacent. LCS is solved with a 2D DP table.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X = ABCBDAB and Y = BDCAB. The letters B, C, A, B appear in both strings in the same order, so the LCS is BCAB with length 4. The goal is to maximize matches while preserving order.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DP breaks the problem into prefixes and stores each answer in a table. If the current characters match, extend the diagonal value by 1. Otherwise take the larger of the value above and the value on the left. The first row and column are zero because an empty string has no common subsequence.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table has 8 rows and 6 columns including empty prefixes. Fill row by row. Bright amber cells are matches on the traceback path; light amber cells are the other steps of the path. Reading the matched letters from bottom to top gives B, C, A, 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six algorithm steps, then the nested loops. Mention that the recurrence fills the table row by row. The traceback is a separate pass that reconstructs the actual string from the table.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and space are both O(m x n). Applications include bioinformatics, diff tools, plagiarism and similarity checks. Close by restating that DP trades memory for repeated work saved.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_TITLE">
    <p:bg>
      <p:bgPr>
        <a:solidFill>
          <a:srgbClr val="12263A"/>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640080"/>
            <a:ext cx="4389120" cy="1280160"/>
          </a:xfrm>
          <a:prstGeom prst="rect">
            <a:avLst/>
          </a:prstGeom>
          <a:noFill/>
          <a:ln/>
        </p:spPr>
        <p:txBody>
          <a:bodyPr wrap="square" rtlCol="0"/>
          <a:lstStyle>
            <a:lvl1pPr algn="l" indent="0" marL="0">
              <a:buNone/>
              <a:defRPr lang="en-US" sz="3400" b="1" dirty="0">
                <a:solidFill>
                  <a:schemeClr val="bg1"/>
                </a:solidFill>
              </a:defRPr>
            </a:lvl1pPr>
          </a:lstStyle>
          <a:p>
            <a:pPr algn="l" indent="0" marL="0">
              <a:buNone/>
            </a:pPr>
            <a:endParaRPr lang="en-US" sz="34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40080"/>
          </a:xfrm>
          <a:prstGeom prst="rect">
            <a:avLst/>
          </a:prstGeom>
          <a:noFill/>
          <a:ln/>
        </p:spPr>
        <p:txBody>
          <a:bodyPr wrap="square" rtlCol="0"/>
          <a:lstStyle>
            <a:lvl1pPr algn="l" indent="0" marL="0">
              <a:buNone/>
              <a:defRPr lang="en-US" sz="3200" b="1" dirty="0">
                <a:solidFill>
                  <a:schemeClr val="tx2"/>
                </a:solidFill>
              </a:defRPr>
            </a:lvl1pPr>
          </a:lstStyle>
          <a:p>
            <a:pPr algn="l" indent="0" marL="0">
              <a:buNone/>
            </a:pPr>
            <a:endParaRPr lang="en-US" sz="32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7A8CA3"/>
                </a:solidFill>
              </a:defRPr>
            </a:lvl1pPr>
          </a:lstStyle>
          <a:p>
            <a:pPr algn="l"/>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7A8CA3"/>
                </a:solidFill>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slideLayout" Target="../slideLayouts/slideLayout3.xml"/><Relationship Id="rId6" Type="http://schemas.openxmlformats.org/officeDocument/2006/relationships/notesSlide" Target="../notesSlides/notesSlide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548640" y="320040"/>
            <a:ext cx="4389120" cy="274320"/>
          </a:xfrm>
          <a:prstGeom prst="rect">
            <a:avLst/>
          </a:prstGeom>
          <a:noFill/>
          <a:ln/>
        </p:spPr>
        <p:txBody>
          <a:bodyPr wrap="square" lIns="0" tIns="0" rIns="0" bIns="0" rtlCol="0" anchor="t"/>
          <a:lstStyle/>
          <a:p>
            <a:pPr indent="0" marL="0">
              <a:buNone/>
            </a:pPr>
            <a:r>
              <a:rPr lang="en-US" sz="1200" b="1" spc="200" kern="0" dirty="0">
                <a:solidFill>
                  <a:schemeClr val="accent2"/>
                </a:solidFill>
              </a:rPr>
              <a:t>DYNAMIC PROGRAMMING  ·  TOPIC XI</a:t>
            </a:r>
            <a:endParaRPr lang="en-US" sz="1200" dirty="0"/>
          </a:p>
        </p:txBody>
      </p:sp>
      <p:sp>
        <p:nvSpPr>
          <p:cNvPr id="3" name="Text 0"/>
          <p:cNvSpPr/>
          <p:nvPr>
            <p:ph idx="100" type="title" hasCustomPrompt="1"/>
          </p:nvPr>
        </p:nvSpPr>
        <p:spPr>
          <a:xfrm>
            <a:off x="548640" y="640080"/>
            <a:ext cx="4389120" cy="1280160"/>
          </a:xfrm>
          <a:prstGeom prst="rect">
            <a:avLst/>
          </a:prstGeom>
          <a:noFill/>
          <a:ln/>
        </p:spPr>
        <p:txBody>
          <a:bodyPr wrap="square" lIns="0" tIns="0" rIns="0" bIns="0" rtlCol="0" anchor="t"/>
          <a:lstStyle/>
          <a:p>
            <a:pPr algn="l" indent="0" marL="0">
              <a:buNone/>
            </a:pPr>
            <a:r>
              <a:rPr lang="en-US" sz="3400" b="1" dirty="0">
                <a:solidFill>
                  <a:schemeClr val="bg1"/>
                </a:solidFill>
              </a:rPr>
              <a:t>Longest Common Subsequence (LCS)</a:t>
            </a:r>
            <a:endParaRPr lang="en-US" sz="3400" dirty="0"/>
          </a:p>
        </p:txBody>
      </p:sp>
      <p:sp>
        <p:nvSpPr>
          <p:cNvPr id="4" name="Text 2"/>
          <p:cNvSpPr txBox="1"/>
          <p:nvPr/>
        </p:nvSpPr>
        <p:spPr>
          <a:xfrm>
            <a:off x="548640" y="2194560"/>
            <a:ext cx="4389120" cy="2377440"/>
          </a:xfrm>
          <a:prstGeom prst="rect">
            <a:avLst/>
          </a:prstGeom>
          <a:noFill/>
          <a:ln/>
        </p:spPr>
        <p:txBody>
          <a:bodyPr wrap="square" lIns="0" tIns="0" rIns="0" bIns="0" rtlCol="0" anchor="t"/>
          <a:lstStyle/>
          <a:p>
            <a:pPr marL="342900" indent="-342900">
              <a:spcAft>
                <a:spcPts val="800"/>
              </a:spcAft>
              <a:buSzPct val="100000"/>
              <a:buChar char="•"/>
            </a:pPr>
            <a:r>
              <a:rPr lang="en-US" sz="1600" b="1" dirty="0">
                <a:solidFill>
                  <a:schemeClr val="accent2"/>
                </a:solidFill>
              </a:rPr>
              <a:t>LCS: </a:t>
            </a:r>
            <a:pPr indent="0" marL="0">
              <a:buNone/>
            </a:pPr>
            <a:r>
              <a:rPr lang="en-US" sz="1600" dirty="0">
                <a:solidFill>
                  <a:schemeClr val="bg1"/>
                </a:solidFill>
              </a:rPr>
              <a:t>a classic problem solved with Dynamic Programming</a:t>
            </a:r>
            <a:endParaRPr lang="en-US" sz="1600" dirty="0"/>
          </a:p>
          <a:p>
            <a:pPr marL="342900" indent="-342900">
              <a:spcAft>
                <a:spcPts val="800"/>
              </a:spcAft>
              <a:buSzPct val="100000"/>
              <a:buChar char="•"/>
            </a:pPr>
            <a:r>
              <a:rPr lang="en-US" sz="1600" b="1" dirty="0">
                <a:solidFill>
                  <a:schemeClr val="accent2"/>
                </a:solidFill>
              </a:rPr>
              <a:t>Subsequence: </a:t>
            </a:r>
            <a:pPr indent="0" marL="0">
              <a:buNone/>
            </a:pPr>
            <a:r>
              <a:rPr lang="en-US" sz="1600" dirty="0">
                <a:solidFill>
                  <a:schemeClr val="bg1"/>
                </a:solidFill>
              </a:rPr>
              <a:t>characters picked in their original order, not necessarily adjacent</a:t>
            </a:r>
            <a:endParaRPr lang="en-US" sz="1600" dirty="0"/>
          </a:p>
          <a:p>
            <a:pPr marL="342900" indent="-342900">
              <a:spcAft>
                <a:spcPts val="800"/>
              </a:spcAft>
              <a:buSzPct val="100000"/>
              <a:buChar char="•"/>
            </a:pPr>
            <a:r>
              <a:rPr lang="en-US" sz="1600" b="1" dirty="0">
                <a:solidFill>
                  <a:schemeClr val="accent2"/>
                </a:solidFill>
              </a:rPr>
              <a:t>Goal: </a:t>
            </a:r>
            <a:pPr indent="0" marL="0">
              <a:buNone/>
            </a:pPr>
            <a:r>
              <a:rPr lang="en-US" sz="1600" dirty="0">
                <a:solidFill>
                  <a:schemeClr val="bg1"/>
                </a:solidFill>
              </a:rPr>
              <a:t>find the longest subsequence common to two strings</a:t>
            </a:r>
            <a:endParaRPr lang="en-US" sz="1600" dirty="0"/>
          </a:p>
          <a:p>
            <a:pPr marL="342900" indent="-342900">
              <a:spcAft>
                <a:spcPts val="800"/>
              </a:spcAft>
              <a:buSzPct val="100000"/>
              <a:buChar char="•"/>
            </a:pPr>
            <a:r>
              <a:rPr lang="en-US" sz="1600" b="1" dirty="0">
                <a:solidFill>
                  <a:schemeClr val="accent2"/>
                </a:solidFill>
              </a:rPr>
              <a:t>2D DP: </a:t>
            </a:r>
            <a:pPr indent="0" marL="0">
              <a:buNone/>
            </a:pPr>
            <a:r>
              <a:rPr lang="en-US" sz="1600" dirty="0">
                <a:solidFill>
                  <a:schemeClr val="bg1"/>
                </a:solidFill>
              </a:rPr>
              <a:t>a 2D table stores answers to smaller subproblems</a:t>
            </a:r>
            <a:endParaRPr lang="en-US" sz="1600" dirty="0"/>
          </a:p>
        </p:txBody>
      </p:sp>
      <p:sp>
        <p:nvSpPr>
          <p:cNvPr id="5" name="Shape 3"/>
          <p:cNvSpPr/>
          <p:nvPr/>
        </p:nvSpPr>
        <p:spPr>
          <a:xfrm>
            <a:off x="5120640" y="548640"/>
            <a:ext cx="3566160" cy="4023360"/>
          </a:xfrm>
          <a:prstGeom prst="roundRect">
            <a:avLst>
              <a:gd name="adj" fmla="val 2051"/>
            </a:avLst>
          </a:prstGeom>
          <a:solidFill>
            <a:schemeClr val="accent3"/>
          </a:solidFill>
          <a:ln w="12700">
            <a:solidFill>
              <a:schemeClr val="accent3"/>
            </a:solidFill>
            <a:prstDash val="solid"/>
          </a:ln>
        </p:spPr>
      </p:sp>
      <p:sp>
        <p:nvSpPr>
          <p:cNvPr id="6" name="Text 4"/>
          <p:cNvSpPr txBox="1"/>
          <p:nvPr/>
        </p:nvSpPr>
        <p:spPr>
          <a:xfrm>
            <a:off x="5349240" y="731520"/>
            <a:ext cx="3108960" cy="320040"/>
          </a:xfrm>
          <a:prstGeom prst="rect">
            <a:avLst/>
          </a:prstGeom>
          <a:noFill/>
          <a:ln/>
        </p:spPr>
        <p:txBody>
          <a:bodyPr wrap="square" lIns="0" tIns="0" rIns="0" bIns="0" rtlCol="0" anchor="t"/>
          <a:lstStyle/>
          <a:p>
            <a:pPr indent="0" marL="0">
              <a:buNone/>
            </a:pPr>
            <a:r>
              <a:rPr lang="en-US" sz="1600" b="1" dirty="0">
                <a:solidFill>
                  <a:schemeClr val="bg1"/>
                </a:solidFill>
              </a:rPr>
              <a:t>What is a subsequence?</a:t>
            </a:r>
            <a:endParaRPr lang="en-US" sz="1600" dirty="0"/>
          </a:p>
        </p:txBody>
      </p:sp>
      <p:sp>
        <p:nvSpPr>
          <p:cNvPr id="7" name="Text 5"/>
          <p:cNvSpPr txBox="1"/>
          <p:nvPr/>
        </p:nvSpPr>
        <p:spPr>
          <a:xfrm>
            <a:off x="5349240" y="1188720"/>
            <a:ext cx="3108960" cy="228600"/>
          </a:xfrm>
          <a:prstGeom prst="rect">
            <a:avLst/>
          </a:prstGeom>
          <a:noFill/>
          <a:ln/>
        </p:spPr>
        <p:txBody>
          <a:bodyPr wrap="square" lIns="0" tIns="0" rIns="0" bIns="0" rtlCol="0" anchor="t"/>
          <a:lstStyle/>
          <a:p>
            <a:pPr indent="0" marL="0">
              <a:buNone/>
            </a:pPr>
            <a:r>
              <a:rPr lang="en-US" sz="1100" dirty="0">
                <a:solidFill>
                  <a:schemeClr val="accent5"/>
                </a:solidFill>
              </a:rPr>
              <a:t>Original string</a:t>
            </a:r>
            <a:endParaRPr lang="en-US" sz="1100" dirty="0"/>
          </a:p>
        </p:txBody>
      </p:sp>
      <p:sp>
        <p:nvSpPr>
          <p:cNvPr id="8" name="Shape 6"/>
          <p:cNvSpPr/>
          <p:nvPr/>
        </p:nvSpPr>
        <p:spPr>
          <a:xfrm>
            <a:off x="5349240" y="1463040"/>
            <a:ext cx="548640" cy="548640"/>
          </a:xfrm>
          <a:prstGeom prst="roundRect">
            <a:avLst>
              <a:gd name="adj" fmla="val 13333"/>
            </a:avLst>
          </a:prstGeom>
          <a:solidFill>
            <a:schemeClr val="accent2"/>
          </a:solidFill>
          <a:ln w="12700">
            <a:solidFill>
              <a:schemeClr val="accent2"/>
            </a:solidFill>
            <a:prstDash val="solid"/>
          </a:ln>
        </p:spPr>
      </p:sp>
      <p:sp>
        <p:nvSpPr>
          <p:cNvPr id="9" name="Text 7"/>
          <p:cNvSpPr txBox="1"/>
          <p:nvPr/>
        </p:nvSpPr>
        <p:spPr>
          <a:xfrm>
            <a:off x="5349240" y="1463040"/>
            <a:ext cx="548640" cy="548640"/>
          </a:xfrm>
          <a:prstGeom prst="rect">
            <a:avLst/>
          </a:prstGeom>
          <a:noFill/>
          <a:ln/>
        </p:spPr>
        <p:txBody>
          <a:bodyPr wrap="square" lIns="0" tIns="0" rIns="0" bIns="0" rtlCol="0" anchor="ctr"/>
          <a:lstStyle/>
          <a:p>
            <a:pPr algn="ctr" indent="0" marL="0">
              <a:buNone/>
            </a:pPr>
            <a:r>
              <a:rPr lang="en-US" sz="2000" b="1" dirty="0">
                <a:solidFill>
                  <a:schemeClr val="tx2"/>
                </a:solidFill>
              </a:rPr>
              <a:t>A</a:t>
            </a:r>
            <a:endParaRPr lang="en-US" sz="2000" dirty="0"/>
          </a:p>
        </p:txBody>
      </p:sp>
      <p:sp>
        <p:nvSpPr>
          <p:cNvPr id="10" name="Shape 8"/>
          <p:cNvSpPr/>
          <p:nvPr/>
        </p:nvSpPr>
        <p:spPr>
          <a:xfrm>
            <a:off x="5989320" y="1463040"/>
            <a:ext cx="548640" cy="548640"/>
          </a:xfrm>
          <a:prstGeom prst="roundRect">
            <a:avLst>
              <a:gd name="adj" fmla="val 13333"/>
            </a:avLst>
          </a:prstGeom>
          <a:solidFill>
            <a:srgbClr val="7A8CA3"/>
          </a:solidFill>
          <a:ln w="12700">
            <a:solidFill>
              <a:srgbClr val="7A8CA3"/>
            </a:solidFill>
            <a:prstDash val="solid"/>
          </a:ln>
        </p:spPr>
      </p:sp>
      <p:sp>
        <p:nvSpPr>
          <p:cNvPr id="11" name="Text 9"/>
          <p:cNvSpPr txBox="1"/>
          <p:nvPr/>
        </p:nvSpPr>
        <p:spPr>
          <a:xfrm>
            <a:off x="5989320" y="1463040"/>
            <a:ext cx="548640" cy="548640"/>
          </a:xfrm>
          <a:prstGeom prst="rect">
            <a:avLst/>
          </a:prstGeom>
          <a:noFill/>
          <a:ln/>
        </p:spPr>
        <p:txBody>
          <a:bodyPr wrap="square" lIns="0" tIns="0" rIns="0" bIns="0" rtlCol="0" anchor="ctr"/>
          <a:lstStyle/>
          <a:p>
            <a:pPr algn="ctr" indent="0" marL="0">
              <a:buNone/>
            </a:pPr>
            <a:r>
              <a:rPr lang="en-US" sz="2000" b="1" dirty="0">
                <a:solidFill>
                  <a:schemeClr val="bg1"/>
                </a:solidFill>
              </a:rPr>
              <a:t>B</a:t>
            </a:r>
            <a:endParaRPr lang="en-US" sz="2000" dirty="0"/>
          </a:p>
        </p:txBody>
      </p:sp>
      <p:sp>
        <p:nvSpPr>
          <p:cNvPr id="12" name="Shape 10"/>
          <p:cNvSpPr/>
          <p:nvPr/>
        </p:nvSpPr>
        <p:spPr>
          <a:xfrm>
            <a:off x="6629400" y="1463040"/>
            <a:ext cx="548640" cy="548640"/>
          </a:xfrm>
          <a:prstGeom prst="roundRect">
            <a:avLst>
              <a:gd name="adj" fmla="val 13333"/>
            </a:avLst>
          </a:prstGeom>
          <a:solidFill>
            <a:schemeClr val="accent2"/>
          </a:solidFill>
          <a:ln w="12700">
            <a:solidFill>
              <a:schemeClr val="accent2"/>
            </a:solidFill>
            <a:prstDash val="solid"/>
          </a:ln>
        </p:spPr>
      </p:sp>
      <p:sp>
        <p:nvSpPr>
          <p:cNvPr id="13" name="Text 11"/>
          <p:cNvSpPr txBox="1"/>
          <p:nvPr/>
        </p:nvSpPr>
        <p:spPr>
          <a:xfrm>
            <a:off x="6629400" y="1463040"/>
            <a:ext cx="548640" cy="548640"/>
          </a:xfrm>
          <a:prstGeom prst="rect">
            <a:avLst/>
          </a:prstGeom>
          <a:noFill/>
          <a:ln/>
        </p:spPr>
        <p:txBody>
          <a:bodyPr wrap="square" lIns="0" tIns="0" rIns="0" bIns="0" rtlCol="0" anchor="ctr"/>
          <a:lstStyle/>
          <a:p>
            <a:pPr algn="ctr" indent="0" marL="0">
              <a:buNone/>
            </a:pPr>
            <a:r>
              <a:rPr lang="en-US" sz="2000" b="1" dirty="0">
                <a:solidFill>
                  <a:schemeClr val="tx2"/>
                </a:solidFill>
              </a:rPr>
              <a:t>C</a:t>
            </a:r>
            <a:endParaRPr lang="en-US" sz="2000" dirty="0"/>
          </a:p>
        </p:txBody>
      </p:sp>
      <p:sp>
        <p:nvSpPr>
          <p:cNvPr id="14" name="Shape 12"/>
          <p:cNvSpPr/>
          <p:nvPr/>
        </p:nvSpPr>
        <p:spPr>
          <a:xfrm>
            <a:off x="7269480" y="1463040"/>
            <a:ext cx="548640" cy="548640"/>
          </a:xfrm>
          <a:prstGeom prst="roundRect">
            <a:avLst>
              <a:gd name="adj" fmla="val 13333"/>
            </a:avLst>
          </a:prstGeom>
          <a:solidFill>
            <a:srgbClr val="7A8CA3"/>
          </a:solidFill>
          <a:ln w="12700">
            <a:solidFill>
              <a:srgbClr val="7A8CA3"/>
            </a:solidFill>
            <a:prstDash val="solid"/>
          </a:ln>
        </p:spPr>
      </p:sp>
      <p:sp>
        <p:nvSpPr>
          <p:cNvPr id="15" name="Text 13"/>
          <p:cNvSpPr txBox="1"/>
          <p:nvPr/>
        </p:nvSpPr>
        <p:spPr>
          <a:xfrm>
            <a:off x="7269480" y="1463040"/>
            <a:ext cx="548640" cy="548640"/>
          </a:xfrm>
          <a:prstGeom prst="rect">
            <a:avLst/>
          </a:prstGeom>
          <a:noFill/>
          <a:ln/>
        </p:spPr>
        <p:txBody>
          <a:bodyPr wrap="square" lIns="0" tIns="0" rIns="0" bIns="0" rtlCol="0" anchor="ctr"/>
          <a:lstStyle/>
          <a:p>
            <a:pPr algn="ctr" indent="0" marL="0">
              <a:buNone/>
            </a:pPr>
            <a:r>
              <a:rPr lang="en-US" sz="2000" b="1" dirty="0">
                <a:solidFill>
                  <a:schemeClr val="bg1"/>
                </a:solidFill>
              </a:rPr>
              <a:t>D</a:t>
            </a:r>
            <a:endParaRPr lang="en-US" sz="2000" dirty="0"/>
          </a:p>
        </p:txBody>
      </p:sp>
      <p:sp>
        <p:nvSpPr>
          <p:cNvPr id="16" name="Shape 14"/>
          <p:cNvSpPr/>
          <p:nvPr/>
        </p:nvSpPr>
        <p:spPr>
          <a:xfrm>
            <a:off x="7909560" y="1463040"/>
            <a:ext cx="548640" cy="548640"/>
          </a:xfrm>
          <a:prstGeom prst="roundRect">
            <a:avLst>
              <a:gd name="adj" fmla="val 13333"/>
            </a:avLst>
          </a:prstGeom>
          <a:solidFill>
            <a:schemeClr val="accent2"/>
          </a:solidFill>
          <a:ln w="12700">
            <a:solidFill>
              <a:schemeClr val="accent2"/>
            </a:solidFill>
            <a:prstDash val="solid"/>
          </a:ln>
        </p:spPr>
      </p:sp>
      <p:sp>
        <p:nvSpPr>
          <p:cNvPr id="17" name="Text 15"/>
          <p:cNvSpPr txBox="1"/>
          <p:nvPr/>
        </p:nvSpPr>
        <p:spPr>
          <a:xfrm>
            <a:off x="7909560" y="1463040"/>
            <a:ext cx="548640" cy="548640"/>
          </a:xfrm>
          <a:prstGeom prst="rect">
            <a:avLst/>
          </a:prstGeom>
          <a:noFill/>
          <a:ln/>
        </p:spPr>
        <p:txBody>
          <a:bodyPr wrap="square" lIns="0" tIns="0" rIns="0" bIns="0" rtlCol="0" anchor="ctr"/>
          <a:lstStyle/>
          <a:p>
            <a:pPr algn="ctr" indent="0" marL="0">
              <a:buNone/>
            </a:pPr>
            <a:r>
              <a:rPr lang="en-US" sz="2000" b="1" dirty="0">
                <a:solidFill>
                  <a:schemeClr val="tx2"/>
                </a:solidFill>
              </a:rPr>
              <a:t>E</a:t>
            </a:r>
            <a:endParaRPr lang="en-US" sz="2000" dirty="0"/>
          </a:p>
        </p:txBody>
      </p:sp>
      <p:sp>
        <p:nvSpPr>
          <p:cNvPr id="18" name="Shape 16"/>
          <p:cNvSpPr/>
          <p:nvPr/>
        </p:nvSpPr>
        <p:spPr>
          <a:xfrm>
            <a:off x="5623560" y="2057400"/>
            <a:ext cx="640080" cy="777240"/>
          </a:xfrm>
          <a:prstGeom prst="line">
            <a:avLst/>
          </a:prstGeom>
          <a:noFill/>
          <a:ln w="19050">
            <a:solidFill>
              <a:srgbClr val="F2A33A"/>
            </a:solidFill>
            <a:prstDash val="solid"/>
            <a:tailEnd type="triangle"/>
          </a:ln>
        </p:spPr>
      </p:sp>
      <p:sp>
        <p:nvSpPr>
          <p:cNvPr id="19" name="Shape 17"/>
          <p:cNvSpPr/>
          <p:nvPr/>
        </p:nvSpPr>
        <p:spPr>
          <a:xfrm>
            <a:off x="6903720" y="2057400"/>
            <a:ext cx="0" cy="777240"/>
          </a:xfrm>
          <a:prstGeom prst="line">
            <a:avLst/>
          </a:prstGeom>
          <a:noFill/>
          <a:ln w="19050">
            <a:solidFill>
              <a:srgbClr val="F2A33A"/>
            </a:solidFill>
            <a:prstDash val="solid"/>
            <a:tailEnd type="triangle"/>
          </a:ln>
        </p:spPr>
      </p:sp>
      <p:sp>
        <p:nvSpPr>
          <p:cNvPr id="20" name="Shape 18"/>
          <p:cNvSpPr/>
          <p:nvPr/>
        </p:nvSpPr>
        <p:spPr>
          <a:xfrm flipH="1">
            <a:off x="7543800" y="2057400"/>
            <a:ext cx="640080" cy="777240"/>
          </a:xfrm>
          <a:prstGeom prst="line">
            <a:avLst/>
          </a:prstGeom>
          <a:noFill/>
          <a:ln w="19050">
            <a:solidFill>
              <a:srgbClr val="F2A33A"/>
            </a:solidFill>
            <a:prstDash val="solid"/>
            <a:tailEnd type="triangle"/>
          </a:ln>
        </p:spPr>
      </p:sp>
      <p:sp>
        <p:nvSpPr>
          <p:cNvPr id="21" name="Shape 19"/>
          <p:cNvSpPr/>
          <p:nvPr/>
        </p:nvSpPr>
        <p:spPr>
          <a:xfrm>
            <a:off x="5989320" y="2880360"/>
            <a:ext cx="548640" cy="548640"/>
          </a:xfrm>
          <a:prstGeom prst="roundRect">
            <a:avLst>
              <a:gd name="adj" fmla="val 13333"/>
            </a:avLst>
          </a:prstGeom>
          <a:solidFill>
            <a:schemeClr val="accent2"/>
          </a:solidFill>
          <a:ln w="12700">
            <a:solidFill>
              <a:schemeClr val="accent2"/>
            </a:solidFill>
            <a:prstDash val="solid"/>
          </a:ln>
        </p:spPr>
      </p:sp>
      <p:sp>
        <p:nvSpPr>
          <p:cNvPr id="22" name="Text 20"/>
          <p:cNvSpPr txBox="1"/>
          <p:nvPr/>
        </p:nvSpPr>
        <p:spPr>
          <a:xfrm>
            <a:off x="5989320" y="2880360"/>
            <a:ext cx="548640" cy="548640"/>
          </a:xfrm>
          <a:prstGeom prst="rect">
            <a:avLst/>
          </a:prstGeom>
          <a:noFill/>
          <a:ln/>
        </p:spPr>
        <p:txBody>
          <a:bodyPr wrap="square" lIns="0" tIns="0" rIns="0" bIns="0" rtlCol="0" anchor="ctr"/>
          <a:lstStyle/>
          <a:p>
            <a:pPr algn="ctr" indent="0" marL="0">
              <a:buNone/>
            </a:pPr>
            <a:r>
              <a:rPr lang="en-US" sz="2000" b="1" dirty="0">
                <a:solidFill>
                  <a:schemeClr val="tx2"/>
                </a:solidFill>
              </a:rPr>
              <a:t>A</a:t>
            </a:r>
            <a:endParaRPr lang="en-US" sz="2000" dirty="0"/>
          </a:p>
        </p:txBody>
      </p:sp>
      <p:sp>
        <p:nvSpPr>
          <p:cNvPr id="23" name="Shape 21"/>
          <p:cNvSpPr/>
          <p:nvPr/>
        </p:nvSpPr>
        <p:spPr>
          <a:xfrm>
            <a:off x="6629400" y="2880360"/>
            <a:ext cx="548640" cy="548640"/>
          </a:xfrm>
          <a:prstGeom prst="roundRect">
            <a:avLst>
              <a:gd name="adj" fmla="val 13333"/>
            </a:avLst>
          </a:prstGeom>
          <a:solidFill>
            <a:schemeClr val="accent2"/>
          </a:solidFill>
          <a:ln w="12700">
            <a:solidFill>
              <a:schemeClr val="accent2"/>
            </a:solidFill>
            <a:prstDash val="solid"/>
          </a:ln>
        </p:spPr>
      </p:sp>
      <p:sp>
        <p:nvSpPr>
          <p:cNvPr id="24" name="Text 22"/>
          <p:cNvSpPr txBox="1"/>
          <p:nvPr/>
        </p:nvSpPr>
        <p:spPr>
          <a:xfrm>
            <a:off x="6629400" y="2880360"/>
            <a:ext cx="548640" cy="548640"/>
          </a:xfrm>
          <a:prstGeom prst="rect">
            <a:avLst/>
          </a:prstGeom>
          <a:noFill/>
          <a:ln/>
        </p:spPr>
        <p:txBody>
          <a:bodyPr wrap="square" lIns="0" tIns="0" rIns="0" bIns="0" rtlCol="0" anchor="ctr"/>
          <a:lstStyle/>
          <a:p>
            <a:pPr algn="ctr" indent="0" marL="0">
              <a:buNone/>
            </a:pPr>
            <a:r>
              <a:rPr lang="en-US" sz="2000" b="1" dirty="0">
                <a:solidFill>
                  <a:schemeClr val="tx2"/>
                </a:solidFill>
              </a:rPr>
              <a:t>C</a:t>
            </a:r>
            <a:endParaRPr lang="en-US" sz="2000" dirty="0"/>
          </a:p>
        </p:txBody>
      </p:sp>
      <p:sp>
        <p:nvSpPr>
          <p:cNvPr id="25" name="Shape 23"/>
          <p:cNvSpPr/>
          <p:nvPr/>
        </p:nvSpPr>
        <p:spPr>
          <a:xfrm>
            <a:off x="7269480" y="2880360"/>
            <a:ext cx="548640" cy="548640"/>
          </a:xfrm>
          <a:prstGeom prst="roundRect">
            <a:avLst>
              <a:gd name="adj" fmla="val 13333"/>
            </a:avLst>
          </a:prstGeom>
          <a:solidFill>
            <a:schemeClr val="accent2"/>
          </a:solidFill>
          <a:ln w="12700">
            <a:solidFill>
              <a:schemeClr val="accent2"/>
            </a:solidFill>
            <a:prstDash val="solid"/>
          </a:ln>
        </p:spPr>
      </p:sp>
      <p:sp>
        <p:nvSpPr>
          <p:cNvPr id="26" name="Text 24"/>
          <p:cNvSpPr txBox="1"/>
          <p:nvPr/>
        </p:nvSpPr>
        <p:spPr>
          <a:xfrm>
            <a:off x="7269480" y="2880360"/>
            <a:ext cx="548640" cy="548640"/>
          </a:xfrm>
          <a:prstGeom prst="rect">
            <a:avLst/>
          </a:prstGeom>
          <a:noFill/>
          <a:ln/>
        </p:spPr>
        <p:txBody>
          <a:bodyPr wrap="square" lIns="0" tIns="0" rIns="0" bIns="0" rtlCol="0" anchor="ctr"/>
          <a:lstStyle/>
          <a:p>
            <a:pPr algn="ctr" indent="0" marL="0">
              <a:buNone/>
            </a:pPr>
            <a:r>
              <a:rPr lang="en-US" sz="2000" b="1" dirty="0">
                <a:solidFill>
                  <a:schemeClr val="tx2"/>
                </a:solidFill>
              </a:rPr>
              <a:t>E</a:t>
            </a:r>
            <a:endParaRPr lang="en-US" sz="2000" dirty="0"/>
          </a:p>
        </p:txBody>
      </p:sp>
      <p:sp>
        <p:nvSpPr>
          <p:cNvPr id="27" name="Text 25"/>
          <p:cNvSpPr txBox="1"/>
          <p:nvPr/>
        </p:nvSpPr>
        <p:spPr>
          <a:xfrm>
            <a:off x="5349240" y="3520440"/>
            <a:ext cx="3108960" cy="228600"/>
          </a:xfrm>
          <a:prstGeom prst="rect">
            <a:avLst/>
          </a:prstGeom>
          <a:noFill/>
          <a:ln/>
        </p:spPr>
        <p:txBody>
          <a:bodyPr wrap="square" lIns="0" tIns="0" rIns="0" bIns="0" rtlCol="0" anchor="t"/>
          <a:lstStyle/>
          <a:p>
            <a:pPr indent="0" marL="0">
              <a:buNone/>
            </a:pPr>
            <a:r>
              <a:rPr lang="en-US" sz="1100" dirty="0">
                <a:solidFill>
                  <a:schemeClr val="accent5"/>
                </a:solidFill>
              </a:rPr>
              <a:t>Subsequence  "ACE"</a:t>
            </a:r>
            <a:endParaRPr lang="en-US" sz="1100" dirty="0"/>
          </a:p>
        </p:txBody>
      </p:sp>
      <p:sp>
        <p:nvSpPr>
          <p:cNvPr id="28" name="Text 26"/>
          <p:cNvSpPr txBox="1"/>
          <p:nvPr/>
        </p:nvSpPr>
        <p:spPr>
          <a:xfrm>
            <a:off x="5349240" y="3931920"/>
            <a:ext cx="3108960" cy="365760"/>
          </a:xfrm>
          <a:prstGeom prst="rect">
            <a:avLst/>
          </a:prstGeom>
          <a:noFill/>
          <a:ln/>
        </p:spPr>
        <p:txBody>
          <a:bodyPr wrap="square" lIns="0" tIns="0" rIns="0" bIns="0" rtlCol="0" anchor="t"/>
          <a:lstStyle/>
          <a:p>
            <a:pPr indent="0" marL="0">
              <a:buNone/>
            </a:pPr>
            <a:r>
              <a:rPr lang="en-US" sz="1400" b="1" dirty="0">
                <a:solidFill>
                  <a:schemeClr val="bg1"/>
                </a:solidFill>
              </a:rPr>
              <a:t>Order kept  ·  gaps allowed</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40080"/>
          </a:xfrm>
          <a:prstGeom prst="rect">
            <a:avLst/>
          </a:prstGeom>
          <a:noFill/>
          <a:ln/>
        </p:spPr>
        <p:txBody>
          <a:bodyPr wrap="square" lIns="0" tIns="0" rIns="0" bIns="0" rtlCol="0" anchor="ctr"/>
          <a:lstStyle/>
          <a:p>
            <a:pPr algn="l" indent="0" marL="0">
              <a:buNone/>
            </a:pPr>
            <a:r>
              <a:rPr lang="en-US" sz="3200" b="1" dirty="0">
                <a:solidFill>
                  <a:schemeClr val="tx2"/>
                </a:solidFill>
              </a:rPr>
              <a:t>Problem Statement &amp; Example</a:t>
            </a:r>
            <a:endParaRPr lang="en-US" sz="3200" dirty="0"/>
          </a:p>
        </p:txBody>
      </p:sp>
      <p:sp>
        <p:nvSpPr>
          <p:cNvPr id="3" name="Text 1"/>
          <p:cNvSpPr txBox="1"/>
          <p:nvPr/>
        </p:nvSpPr>
        <p:spPr>
          <a:xfrm>
            <a:off x="457200" y="1051560"/>
            <a:ext cx="8229600" cy="548640"/>
          </a:xfrm>
          <a:prstGeom prst="rect">
            <a:avLst/>
          </a:prstGeom>
          <a:noFill/>
          <a:ln/>
        </p:spPr>
        <p:txBody>
          <a:bodyPr wrap="square" lIns="0" tIns="0" rIns="0" bIns="0" rtlCol="0" anchor="t"/>
          <a:lstStyle/>
          <a:p>
            <a:pPr indent="0" marL="0">
              <a:buNone/>
            </a:pPr>
            <a:r>
              <a:rPr lang="en-US" sz="1600" dirty="0">
                <a:solidFill>
                  <a:schemeClr val="tx1"/>
                </a:solidFill>
              </a:rPr>
              <a:t>Given two strings, find the longest subsequence that appears in both, in the same relative order.</a:t>
            </a:r>
            <a:endParaRPr lang="en-US" sz="1600" dirty="0"/>
          </a:p>
        </p:txBody>
      </p:sp>
      <p:sp>
        <p:nvSpPr>
          <p:cNvPr id="4" name="Text 2"/>
          <p:cNvSpPr txBox="1"/>
          <p:nvPr/>
        </p:nvSpPr>
        <p:spPr>
          <a:xfrm>
            <a:off x="457200" y="2057400"/>
            <a:ext cx="365760" cy="457200"/>
          </a:xfrm>
          <a:prstGeom prst="rect">
            <a:avLst/>
          </a:prstGeom>
          <a:noFill/>
          <a:ln/>
        </p:spPr>
        <p:txBody>
          <a:bodyPr wrap="square" lIns="0" tIns="0" rIns="0" bIns="0" rtlCol="0" anchor="ctr"/>
          <a:lstStyle/>
          <a:p>
            <a:pPr indent="0" marL="0">
              <a:buNone/>
            </a:pPr>
            <a:r>
              <a:rPr lang="en-US" sz="2000" b="1" dirty="0">
                <a:solidFill>
                  <a:schemeClr val="accent1"/>
                </a:solidFill>
              </a:rPr>
              <a:t>X</a:t>
            </a:r>
            <a:endParaRPr lang="en-US" sz="2000" dirty="0"/>
          </a:p>
        </p:txBody>
      </p:sp>
      <p:sp>
        <p:nvSpPr>
          <p:cNvPr id="5" name="Text 3"/>
          <p:cNvSpPr txBox="1"/>
          <p:nvPr/>
        </p:nvSpPr>
        <p:spPr>
          <a:xfrm>
            <a:off x="457200" y="3429000"/>
            <a:ext cx="365760" cy="457200"/>
          </a:xfrm>
          <a:prstGeom prst="rect">
            <a:avLst/>
          </a:prstGeom>
          <a:noFill/>
          <a:ln/>
        </p:spPr>
        <p:txBody>
          <a:bodyPr wrap="square" lIns="0" tIns="0" rIns="0" bIns="0" rtlCol="0" anchor="ctr"/>
          <a:lstStyle/>
          <a:p>
            <a:pPr indent="0" marL="0">
              <a:buNone/>
            </a:pPr>
            <a:r>
              <a:rPr lang="en-US" sz="2000" b="1" dirty="0">
                <a:solidFill>
                  <a:schemeClr val="accent1"/>
                </a:solidFill>
              </a:rPr>
              <a:t>Y</a:t>
            </a:r>
            <a:endParaRPr lang="en-US" sz="2000" dirty="0"/>
          </a:p>
        </p:txBody>
      </p:sp>
      <p:sp>
        <p:nvSpPr>
          <p:cNvPr id="6" name="Shape 4"/>
          <p:cNvSpPr/>
          <p:nvPr/>
        </p:nvSpPr>
        <p:spPr>
          <a:xfrm>
            <a:off x="914400" y="2011680"/>
            <a:ext cx="548640" cy="548640"/>
          </a:xfrm>
          <a:prstGeom prst="roundRect">
            <a:avLst>
              <a:gd name="adj" fmla="val 13333"/>
            </a:avLst>
          </a:prstGeom>
          <a:solidFill>
            <a:schemeClr val="accent5"/>
          </a:solidFill>
          <a:ln w="12700">
            <a:solidFill>
              <a:schemeClr val="accent5"/>
            </a:solidFill>
            <a:prstDash val="solid"/>
          </a:ln>
        </p:spPr>
      </p:sp>
      <p:sp>
        <p:nvSpPr>
          <p:cNvPr id="7" name="Text 5"/>
          <p:cNvSpPr txBox="1"/>
          <p:nvPr/>
        </p:nvSpPr>
        <p:spPr>
          <a:xfrm>
            <a:off x="914400" y="2011680"/>
            <a:ext cx="548640" cy="548640"/>
          </a:xfrm>
          <a:prstGeom prst="rect">
            <a:avLst/>
          </a:prstGeom>
          <a:noFill/>
          <a:ln/>
        </p:spPr>
        <p:txBody>
          <a:bodyPr wrap="square" lIns="0" tIns="0" rIns="0" bIns="0" rtlCol="0" anchor="ctr"/>
          <a:lstStyle/>
          <a:p>
            <a:pPr algn="ctr" indent="0" marL="0">
              <a:buNone/>
            </a:pPr>
            <a:r>
              <a:rPr lang="en-US" sz="2000" b="1" dirty="0">
                <a:solidFill>
                  <a:schemeClr val="tx1"/>
                </a:solidFill>
              </a:rPr>
              <a:t>A</a:t>
            </a:r>
            <a:endParaRPr lang="en-US" sz="2000" dirty="0"/>
          </a:p>
        </p:txBody>
      </p:sp>
      <p:sp>
        <p:nvSpPr>
          <p:cNvPr id="8" name="Shape 6"/>
          <p:cNvSpPr/>
          <p:nvPr/>
        </p:nvSpPr>
        <p:spPr>
          <a:xfrm>
            <a:off x="1554480" y="2011680"/>
            <a:ext cx="548640" cy="548640"/>
          </a:xfrm>
          <a:prstGeom prst="roundRect">
            <a:avLst>
              <a:gd name="adj" fmla="val 13333"/>
            </a:avLst>
          </a:prstGeom>
          <a:solidFill>
            <a:schemeClr val="accent2"/>
          </a:solidFill>
          <a:ln w="12700">
            <a:solidFill>
              <a:schemeClr val="accent2"/>
            </a:solidFill>
            <a:prstDash val="solid"/>
          </a:ln>
        </p:spPr>
      </p:sp>
      <p:sp>
        <p:nvSpPr>
          <p:cNvPr id="9" name="Text 7"/>
          <p:cNvSpPr txBox="1"/>
          <p:nvPr/>
        </p:nvSpPr>
        <p:spPr>
          <a:xfrm>
            <a:off x="1554480" y="2011680"/>
            <a:ext cx="548640" cy="548640"/>
          </a:xfrm>
          <a:prstGeom prst="rect">
            <a:avLst/>
          </a:prstGeom>
          <a:noFill/>
          <a:ln/>
        </p:spPr>
        <p:txBody>
          <a:bodyPr wrap="square" lIns="0" tIns="0" rIns="0" bIns="0" rtlCol="0" anchor="ctr"/>
          <a:lstStyle/>
          <a:p>
            <a:pPr algn="ctr" indent="0" marL="0">
              <a:buNone/>
            </a:pPr>
            <a:r>
              <a:rPr lang="en-US" sz="2000" b="1" dirty="0">
                <a:solidFill>
                  <a:schemeClr val="tx1"/>
                </a:solidFill>
              </a:rPr>
              <a:t>B</a:t>
            </a:r>
            <a:endParaRPr lang="en-US" sz="2000" dirty="0"/>
          </a:p>
        </p:txBody>
      </p:sp>
      <p:sp>
        <p:nvSpPr>
          <p:cNvPr id="10" name="Shape 8"/>
          <p:cNvSpPr/>
          <p:nvPr/>
        </p:nvSpPr>
        <p:spPr>
          <a:xfrm>
            <a:off x="2194560" y="2011680"/>
            <a:ext cx="548640" cy="548640"/>
          </a:xfrm>
          <a:prstGeom prst="roundRect">
            <a:avLst>
              <a:gd name="adj" fmla="val 13333"/>
            </a:avLst>
          </a:prstGeom>
          <a:solidFill>
            <a:schemeClr val="accent2"/>
          </a:solidFill>
          <a:ln w="12700">
            <a:solidFill>
              <a:schemeClr val="accent2"/>
            </a:solidFill>
            <a:prstDash val="solid"/>
          </a:ln>
        </p:spPr>
      </p:sp>
      <p:sp>
        <p:nvSpPr>
          <p:cNvPr id="11" name="Text 9"/>
          <p:cNvSpPr txBox="1"/>
          <p:nvPr/>
        </p:nvSpPr>
        <p:spPr>
          <a:xfrm>
            <a:off x="2194560" y="2011680"/>
            <a:ext cx="548640" cy="548640"/>
          </a:xfrm>
          <a:prstGeom prst="rect">
            <a:avLst/>
          </a:prstGeom>
          <a:noFill/>
          <a:ln/>
        </p:spPr>
        <p:txBody>
          <a:bodyPr wrap="square" lIns="0" tIns="0" rIns="0" bIns="0" rtlCol="0" anchor="ctr"/>
          <a:lstStyle/>
          <a:p>
            <a:pPr algn="ctr" indent="0" marL="0">
              <a:buNone/>
            </a:pPr>
            <a:r>
              <a:rPr lang="en-US" sz="2000" b="1" dirty="0">
                <a:solidFill>
                  <a:schemeClr val="tx1"/>
                </a:solidFill>
              </a:rPr>
              <a:t>C</a:t>
            </a:r>
            <a:endParaRPr lang="en-US" sz="2000" dirty="0"/>
          </a:p>
        </p:txBody>
      </p:sp>
      <p:sp>
        <p:nvSpPr>
          <p:cNvPr id="12" name="Shape 10"/>
          <p:cNvSpPr/>
          <p:nvPr/>
        </p:nvSpPr>
        <p:spPr>
          <a:xfrm>
            <a:off x="2834640" y="2011680"/>
            <a:ext cx="548640" cy="548640"/>
          </a:xfrm>
          <a:prstGeom prst="roundRect">
            <a:avLst>
              <a:gd name="adj" fmla="val 13333"/>
            </a:avLst>
          </a:prstGeom>
          <a:solidFill>
            <a:schemeClr val="accent5"/>
          </a:solidFill>
          <a:ln w="12700">
            <a:solidFill>
              <a:schemeClr val="accent5"/>
            </a:solidFill>
            <a:prstDash val="solid"/>
          </a:ln>
        </p:spPr>
      </p:sp>
      <p:sp>
        <p:nvSpPr>
          <p:cNvPr id="13" name="Text 11"/>
          <p:cNvSpPr txBox="1"/>
          <p:nvPr/>
        </p:nvSpPr>
        <p:spPr>
          <a:xfrm>
            <a:off x="2834640" y="2011680"/>
            <a:ext cx="548640" cy="548640"/>
          </a:xfrm>
          <a:prstGeom prst="rect">
            <a:avLst/>
          </a:prstGeom>
          <a:noFill/>
          <a:ln/>
        </p:spPr>
        <p:txBody>
          <a:bodyPr wrap="square" lIns="0" tIns="0" rIns="0" bIns="0" rtlCol="0" anchor="ctr"/>
          <a:lstStyle/>
          <a:p>
            <a:pPr algn="ctr" indent="0" marL="0">
              <a:buNone/>
            </a:pPr>
            <a:r>
              <a:rPr lang="en-US" sz="2000" b="1" dirty="0">
                <a:solidFill>
                  <a:schemeClr val="tx1"/>
                </a:solidFill>
              </a:rPr>
              <a:t>B</a:t>
            </a:r>
            <a:endParaRPr lang="en-US" sz="2000" dirty="0"/>
          </a:p>
        </p:txBody>
      </p:sp>
      <p:sp>
        <p:nvSpPr>
          <p:cNvPr id="14" name="Shape 12"/>
          <p:cNvSpPr/>
          <p:nvPr/>
        </p:nvSpPr>
        <p:spPr>
          <a:xfrm>
            <a:off x="3474720" y="2011680"/>
            <a:ext cx="548640" cy="548640"/>
          </a:xfrm>
          <a:prstGeom prst="roundRect">
            <a:avLst>
              <a:gd name="adj" fmla="val 13333"/>
            </a:avLst>
          </a:prstGeom>
          <a:solidFill>
            <a:schemeClr val="accent5"/>
          </a:solidFill>
          <a:ln w="12700">
            <a:solidFill>
              <a:schemeClr val="accent5"/>
            </a:solidFill>
            <a:prstDash val="solid"/>
          </a:ln>
        </p:spPr>
      </p:sp>
      <p:sp>
        <p:nvSpPr>
          <p:cNvPr id="15" name="Text 13"/>
          <p:cNvSpPr txBox="1"/>
          <p:nvPr/>
        </p:nvSpPr>
        <p:spPr>
          <a:xfrm>
            <a:off x="3474720" y="2011680"/>
            <a:ext cx="548640" cy="548640"/>
          </a:xfrm>
          <a:prstGeom prst="rect">
            <a:avLst/>
          </a:prstGeom>
          <a:noFill/>
          <a:ln/>
        </p:spPr>
        <p:txBody>
          <a:bodyPr wrap="square" lIns="0" tIns="0" rIns="0" bIns="0" rtlCol="0" anchor="ctr"/>
          <a:lstStyle/>
          <a:p>
            <a:pPr algn="ctr" indent="0" marL="0">
              <a:buNone/>
            </a:pPr>
            <a:r>
              <a:rPr lang="en-US" sz="2000" b="1" dirty="0">
                <a:solidFill>
                  <a:schemeClr val="tx1"/>
                </a:solidFill>
              </a:rPr>
              <a:t>D</a:t>
            </a:r>
            <a:endParaRPr lang="en-US" sz="2000" dirty="0"/>
          </a:p>
        </p:txBody>
      </p:sp>
      <p:sp>
        <p:nvSpPr>
          <p:cNvPr id="16" name="Shape 14"/>
          <p:cNvSpPr/>
          <p:nvPr/>
        </p:nvSpPr>
        <p:spPr>
          <a:xfrm>
            <a:off x="4114800" y="2011680"/>
            <a:ext cx="548640" cy="548640"/>
          </a:xfrm>
          <a:prstGeom prst="roundRect">
            <a:avLst>
              <a:gd name="adj" fmla="val 13333"/>
            </a:avLst>
          </a:prstGeom>
          <a:solidFill>
            <a:schemeClr val="accent2"/>
          </a:solidFill>
          <a:ln w="12700">
            <a:solidFill>
              <a:schemeClr val="accent2"/>
            </a:solidFill>
            <a:prstDash val="solid"/>
          </a:ln>
        </p:spPr>
      </p:sp>
      <p:sp>
        <p:nvSpPr>
          <p:cNvPr id="17" name="Text 15"/>
          <p:cNvSpPr txBox="1"/>
          <p:nvPr/>
        </p:nvSpPr>
        <p:spPr>
          <a:xfrm>
            <a:off x="4114800" y="2011680"/>
            <a:ext cx="548640" cy="548640"/>
          </a:xfrm>
          <a:prstGeom prst="rect">
            <a:avLst/>
          </a:prstGeom>
          <a:noFill/>
          <a:ln/>
        </p:spPr>
        <p:txBody>
          <a:bodyPr wrap="square" lIns="0" tIns="0" rIns="0" bIns="0" rtlCol="0" anchor="ctr"/>
          <a:lstStyle/>
          <a:p>
            <a:pPr algn="ctr" indent="0" marL="0">
              <a:buNone/>
            </a:pPr>
            <a:r>
              <a:rPr lang="en-US" sz="2000" b="1" dirty="0">
                <a:solidFill>
                  <a:schemeClr val="tx1"/>
                </a:solidFill>
              </a:rPr>
              <a:t>A</a:t>
            </a:r>
            <a:endParaRPr lang="en-US" sz="2000" dirty="0"/>
          </a:p>
        </p:txBody>
      </p:sp>
      <p:sp>
        <p:nvSpPr>
          <p:cNvPr id="18" name="Shape 16"/>
          <p:cNvSpPr/>
          <p:nvPr/>
        </p:nvSpPr>
        <p:spPr>
          <a:xfrm>
            <a:off x="4754880" y="2011680"/>
            <a:ext cx="548640" cy="548640"/>
          </a:xfrm>
          <a:prstGeom prst="roundRect">
            <a:avLst>
              <a:gd name="adj" fmla="val 13333"/>
            </a:avLst>
          </a:prstGeom>
          <a:solidFill>
            <a:schemeClr val="accent2"/>
          </a:solidFill>
          <a:ln w="12700">
            <a:solidFill>
              <a:schemeClr val="accent2"/>
            </a:solidFill>
            <a:prstDash val="solid"/>
          </a:ln>
        </p:spPr>
      </p:sp>
      <p:sp>
        <p:nvSpPr>
          <p:cNvPr id="19" name="Text 17"/>
          <p:cNvSpPr txBox="1"/>
          <p:nvPr/>
        </p:nvSpPr>
        <p:spPr>
          <a:xfrm>
            <a:off x="4754880" y="2011680"/>
            <a:ext cx="548640" cy="548640"/>
          </a:xfrm>
          <a:prstGeom prst="rect">
            <a:avLst/>
          </a:prstGeom>
          <a:noFill/>
          <a:ln/>
        </p:spPr>
        <p:txBody>
          <a:bodyPr wrap="square" lIns="0" tIns="0" rIns="0" bIns="0" rtlCol="0" anchor="ctr"/>
          <a:lstStyle/>
          <a:p>
            <a:pPr algn="ctr" indent="0" marL="0">
              <a:buNone/>
            </a:pPr>
            <a:r>
              <a:rPr lang="en-US" sz="2000" b="1" dirty="0">
                <a:solidFill>
                  <a:schemeClr val="tx1"/>
                </a:solidFill>
              </a:rPr>
              <a:t>B</a:t>
            </a:r>
            <a:endParaRPr lang="en-US" sz="2000" dirty="0"/>
          </a:p>
        </p:txBody>
      </p:sp>
      <p:sp>
        <p:nvSpPr>
          <p:cNvPr id="20" name="Shape 18"/>
          <p:cNvSpPr/>
          <p:nvPr/>
        </p:nvSpPr>
        <p:spPr>
          <a:xfrm>
            <a:off x="1554480" y="3383280"/>
            <a:ext cx="548640" cy="548640"/>
          </a:xfrm>
          <a:prstGeom prst="roundRect">
            <a:avLst>
              <a:gd name="adj" fmla="val 13333"/>
            </a:avLst>
          </a:prstGeom>
          <a:solidFill>
            <a:schemeClr val="accent2"/>
          </a:solidFill>
          <a:ln w="12700">
            <a:solidFill>
              <a:schemeClr val="accent2"/>
            </a:solidFill>
            <a:prstDash val="solid"/>
          </a:ln>
        </p:spPr>
      </p:sp>
      <p:sp>
        <p:nvSpPr>
          <p:cNvPr id="21" name="Text 19"/>
          <p:cNvSpPr txBox="1"/>
          <p:nvPr/>
        </p:nvSpPr>
        <p:spPr>
          <a:xfrm>
            <a:off x="1554480" y="3383280"/>
            <a:ext cx="548640" cy="548640"/>
          </a:xfrm>
          <a:prstGeom prst="rect">
            <a:avLst/>
          </a:prstGeom>
          <a:noFill/>
          <a:ln/>
        </p:spPr>
        <p:txBody>
          <a:bodyPr wrap="square" lIns="0" tIns="0" rIns="0" bIns="0" rtlCol="0" anchor="ctr"/>
          <a:lstStyle/>
          <a:p>
            <a:pPr algn="ctr" indent="0" marL="0">
              <a:buNone/>
            </a:pPr>
            <a:r>
              <a:rPr lang="en-US" sz="2000" b="1" dirty="0">
                <a:solidFill>
                  <a:schemeClr val="tx1"/>
                </a:solidFill>
              </a:rPr>
              <a:t>B</a:t>
            </a:r>
            <a:endParaRPr lang="en-US" sz="2000" dirty="0"/>
          </a:p>
        </p:txBody>
      </p:sp>
      <p:sp>
        <p:nvSpPr>
          <p:cNvPr id="22" name="Shape 20"/>
          <p:cNvSpPr/>
          <p:nvPr/>
        </p:nvSpPr>
        <p:spPr>
          <a:xfrm>
            <a:off x="2194560" y="3383280"/>
            <a:ext cx="548640" cy="548640"/>
          </a:xfrm>
          <a:prstGeom prst="roundRect">
            <a:avLst>
              <a:gd name="adj" fmla="val 13333"/>
            </a:avLst>
          </a:prstGeom>
          <a:solidFill>
            <a:schemeClr val="accent5"/>
          </a:solidFill>
          <a:ln w="12700">
            <a:solidFill>
              <a:schemeClr val="accent5"/>
            </a:solidFill>
            <a:prstDash val="solid"/>
          </a:ln>
        </p:spPr>
      </p:sp>
      <p:sp>
        <p:nvSpPr>
          <p:cNvPr id="23" name="Text 21"/>
          <p:cNvSpPr txBox="1"/>
          <p:nvPr/>
        </p:nvSpPr>
        <p:spPr>
          <a:xfrm>
            <a:off x="2194560" y="3383280"/>
            <a:ext cx="548640" cy="548640"/>
          </a:xfrm>
          <a:prstGeom prst="rect">
            <a:avLst/>
          </a:prstGeom>
          <a:noFill/>
          <a:ln/>
        </p:spPr>
        <p:txBody>
          <a:bodyPr wrap="square" lIns="0" tIns="0" rIns="0" bIns="0" rtlCol="0" anchor="ctr"/>
          <a:lstStyle/>
          <a:p>
            <a:pPr algn="ctr" indent="0" marL="0">
              <a:buNone/>
            </a:pPr>
            <a:r>
              <a:rPr lang="en-US" sz="2000" b="1" dirty="0">
                <a:solidFill>
                  <a:schemeClr val="tx1"/>
                </a:solidFill>
              </a:rPr>
              <a:t>D</a:t>
            </a:r>
            <a:endParaRPr lang="en-US" sz="2000" dirty="0"/>
          </a:p>
        </p:txBody>
      </p:sp>
      <p:sp>
        <p:nvSpPr>
          <p:cNvPr id="24" name="Shape 22"/>
          <p:cNvSpPr/>
          <p:nvPr/>
        </p:nvSpPr>
        <p:spPr>
          <a:xfrm>
            <a:off x="2834640" y="3383280"/>
            <a:ext cx="548640" cy="548640"/>
          </a:xfrm>
          <a:prstGeom prst="roundRect">
            <a:avLst>
              <a:gd name="adj" fmla="val 13333"/>
            </a:avLst>
          </a:prstGeom>
          <a:solidFill>
            <a:schemeClr val="accent2"/>
          </a:solidFill>
          <a:ln w="12700">
            <a:solidFill>
              <a:schemeClr val="accent2"/>
            </a:solidFill>
            <a:prstDash val="solid"/>
          </a:ln>
        </p:spPr>
      </p:sp>
      <p:sp>
        <p:nvSpPr>
          <p:cNvPr id="25" name="Text 23"/>
          <p:cNvSpPr txBox="1"/>
          <p:nvPr/>
        </p:nvSpPr>
        <p:spPr>
          <a:xfrm>
            <a:off x="2834640" y="3383280"/>
            <a:ext cx="548640" cy="548640"/>
          </a:xfrm>
          <a:prstGeom prst="rect">
            <a:avLst/>
          </a:prstGeom>
          <a:noFill/>
          <a:ln/>
        </p:spPr>
        <p:txBody>
          <a:bodyPr wrap="square" lIns="0" tIns="0" rIns="0" bIns="0" rtlCol="0" anchor="ctr"/>
          <a:lstStyle/>
          <a:p>
            <a:pPr algn="ctr" indent="0" marL="0">
              <a:buNone/>
            </a:pPr>
            <a:r>
              <a:rPr lang="en-US" sz="2000" b="1" dirty="0">
                <a:solidFill>
                  <a:schemeClr val="tx1"/>
                </a:solidFill>
              </a:rPr>
              <a:t>C</a:t>
            </a:r>
            <a:endParaRPr lang="en-US" sz="2000" dirty="0"/>
          </a:p>
        </p:txBody>
      </p:sp>
      <p:sp>
        <p:nvSpPr>
          <p:cNvPr id="26" name="Shape 24"/>
          <p:cNvSpPr/>
          <p:nvPr/>
        </p:nvSpPr>
        <p:spPr>
          <a:xfrm>
            <a:off x="3474720" y="3383280"/>
            <a:ext cx="548640" cy="548640"/>
          </a:xfrm>
          <a:prstGeom prst="roundRect">
            <a:avLst>
              <a:gd name="adj" fmla="val 13333"/>
            </a:avLst>
          </a:prstGeom>
          <a:solidFill>
            <a:schemeClr val="accent2"/>
          </a:solidFill>
          <a:ln w="12700">
            <a:solidFill>
              <a:schemeClr val="accent2"/>
            </a:solidFill>
            <a:prstDash val="solid"/>
          </a:ln>
        </p:spPr>
      </p:sp>
      <p:sp>
        <p:nvSpPr>
          <p:cNvPr id="27" name="Text 25"/>
          <p:cNvSpPr txBox="1"/>
          <p:nvPr/>
        </p:nvSpPr>
        <p:spPr>
          <a:xfrm>
            <a:off x="3474720" y="3383280"/>
            <a:ext cx="548640" cy="548640"/>
          </a:xfrm>
          <a:prstGeom prst="rect">
            <a:avLst/>
          </a:prstGeom>
          <a:noFill/>
          <a:ln/>
        </p:spPr>
        <p:txBody>
          <a:bodyPr wrap="square" lIns="0" tIns="0" rIns="0" bIns="0" rtlCol="0" anchor="ctr"/>
          <a:lstStyle/>
          <a:p>
            <a:pPr algn="ctr" indent="0" marL="0">
              <a:buNone/>
            </a:pPr>
            <a:r>
              <a:rPr lang="en-US" sz="2000" b="1" dirty="0">
                <a:solidFill>
                  <a:schemeClr val="tx1"/>
                </a:solidFill>
              </a:rPr>
              <a:t>A</a:t>
            </a:r>
            <a:endParaRPr lang="en-US" sz="2000" dirty="0"/>
          </a:p>
        </p:txBody>
      </p:sp>
      <p:sp>
        <p:nvSpPr>
          <p:cNvPr id="28" name="Shape 26"/>
          <p:cNvSpPr/>
          <p:nvPr/>
        </p:nvSpPr>
        <p:spPr>
          <a:xfrm>
            <a:off x="4114800" y="3383280"/>
            <a:ext cx="548640" cy="548640"/>
          </a:xfrm>
          <a:prstGeom prst="roundRect">
            <a:avLst>
              <a:gd name="adj" fmla="val 13333"/>
            </a:avLst>
          </a:prstGeom>
          <a:solidFill>
            <a:schemeClr val="accent2"/>
          </a:solidFill>
          <a:ln w="12700">
            <a:solidFill>
              <a:schemeClr val="accent2"/>
            </a:solidFill>
            <a:prstDash val="solid"/>
          </a:ln>
        </p:spPr>
      </p:sp>
      <p:sp>
        <p:nvSpPr>
          <p:cNvPr id="29" name="Text 27"/>
          <p:cNvSpPr txBox="1"/>
          <p:nvPr/>
        </p:nvSpPr>
        <p:spPr>
          <a:xfrm>
            <a:off x="4114800" y="3383280"/>
            <a:ext cx="548640" cy="548640"/>
          </a:xfrm>
          <a:prstGeom prst="rect">
            <a:avLst/>
          </a:prstGeom>
          <a:noFill/>
          <a:ln/>
        </p:spPr>
        <p:txBody>
          <a:bodyPr wrap="square" lIns="0" tIns="0" rIns="0" bIns="0" rtlCol="0" anchor="ctr"/>
          <a:lstStyle/>
          <a:p>
            <a:pPr algn="ctr" indent="0" marL="0">
              <a:buNone/>
            </a:pPr>
            <a:r>
              <a:rPr lang="en-US" sz="2000" b="1" dirty="0">
                <a:solidFill>
                  <a:schemeClr val="tx1"/>
                </a:solidFill>
              </a:rPr>
              <a:t>B</a:t>
            </a:r>
            <a:endParaRPr lang="en-US" sz="2000" dirty="0"/>
          </a:p>
        </p:txBody>
      </p:sp>
      <p:sp>
        <p:nvSpPr>
          <p:cNvPr id="30" name="Shape 28"/>
          <p:cNvSpPr/>
          <p:nvPr/>
        </p:nvSpPr>
        <p:spPr>
          <a:xfrm>
            <a:off x="1828800" y="2560320"/>
            <a:ext cx="0" cy="822960"/>
          </a:xfrm>
          <a:prstGeom prst="line">
            <a:avLst/>
          </a:prstGeom>
          <a:noFill/>
          <a:ln w="25400">
            <a:solidFill>
              <a:srgbClr val="0E7C86"/>
            </a:solidFill>
            <a:prstDash val="solid"/>
          </a:ln>
        </p:spPr>
      </p:sp>
      <p:sp>
        <p:nvSpPr>
          <p:cNvPr id="31" name="Shape 29"/>
          <p:cNvSpPr/>
          <p:nvPr/>
        </p:nvSpPr>
        <p:spPr>
          <a:xfrm>
            <a:off x="2468880" y="2560320"/>
            <a:ext cx="640080" cy="822960"/>
          </a:xfrm>
          <a:prstGeom prst="line">
            <a:avLst/>
          </a:prstGeom>
          <a:noFill/>
          <a:ln w="25400">
            <a:solidFill>
              <a:srgbClr val="0E7C86"/>
            </a:solidFill>
            <a:prstDash val="solid"/>
          </a:ln>
        </p:spPr>
      </p:sp>
      <p:sp>
        <p:nvSpPr>
          <p:cNvPr id="32" name="Shape 30"/>
          <p:cNvSpPr/>
          <p:nvPr/>
        </p:nvSpPr>
        <p:spPr>
          <a:xfrm flipH="1">
            <a:off x="3749040" y="2560320"/>
            <a:ext cx="640080" cy="822960"/>
          </a:xfrm>
          <a:prstGeom prst="line">
            <a:avLst/>
          </a:prstGeom>
          <a:noFill/>
          <a:ln w="25400">
            <a:solidFill>
              <a:srgbClr val="0E7C86"/>
            </a:solidFill>
            <a:prstDash val="solid"/>
          </a:ln>
        </p:spPr>
      </p:sp>
      <p:sp>
        <p:nvSpPr>
          <p:cNvPr id="33" name="Shape 31"/>
          <p:cNvSpPr/>
          <p:nvPr/>
        </p:nvSpPr>
        <p:spPr>
          <a:xfrm flipH="1">
            <a:off x="4389120" y="2560320"/>
            <a:ext cx="640080" cy="822960"/>
          </a:xfrm>
          <a:prstGeom prst="line">
            <a:avLst/>
          </a:prstGeom>
          <a:noFill/>
          <a:ln w="25400">
            <a:solidFill>
              <a:srgbClr val="0E7C86"/>
            </a:solidFill>
            <a:prstDash val="solid"/>
          </a:ln>
        </p:spPr>
      </p:sp>
      <p:sp>
        <p:nvSpPr>
          <p:cNvPr id="34" name="Text 32"/>
          <p:cNvSpPr txBox="1"/>
          <p:nvPr/>
        </p:nvSpPr>
        <p:spPr>
          <a:xfrm>
            <a:off x="457200" y="4206240"/>
            <a:ext cx="5120640" cy="274320"/>
          </a:xfrm>
          <a:prstGeom prst="rect">
            <a:avLst/>
          </a:prstGeom>
          <a:noFill/>
          <a:ln/>
        </p:spPr>
        <p:txBody>
          <a:bodyPr wrap="square" lIns="0" tIns="0" rIns="0" bIns="0" rtlCol="0" anchor="t"/>
          <a:lstStyle/>
          <a:p>
            <a:pPr indent="0" marL="0">
              <a:buNone/>
            </a:pPr>
            <a:r>
              <a:rPr lang="en-US" sz="1200" dirty="0">
                <a:solidFill>
                  <a:schemeClr val="accent6"/>
                </a:solidFill>
              </a:rPr>
              <a:t>Highlighted letters appear in both strings in the same order.</a:t>
            </a:r>
            <a:endParaRPr lang="en-US" sz="1200" dirty="0"/>
          </a:p>
        </p:txBody>
      </p:sp>
      <p:sp>
        <p:nvSpPr>
          <p:cNvPr id="35" name="Shape 33"/>
          <p:cNvSpPr/>
          <p:nvPr/>
        </p:nvSpPr>
        <p:spPr>
          <a:xfrm>
            <a:off x="5852160" y="1737360"/>
            <a:ext cx="2834640" cy="2834640"/>
          </a:xfrm>
          <a:prstGeom prst="roundRect">
            <a:avLst>
              <a:gd name="adj" fmla="val 2581"/>
            </a:avLst>
          </a:prstGeom>
          <a:solidFill>
            <a:schemeClr val="bg2"/>
          </a:solidFill>
          <a:ln w="12700">
            <a:solidFill>
              <a:schemeClr val="bg2"/>
            </a:solidFill>
            <a:prstDash val="solid"/>
          </a:ln>
        </p:spPr>
      </p:sp>
      <p:sp>
        <p:nvSpPr>
          <p:cNvPr id="36" name="Text 34"/>
          <p:cNvSpPr txBox="1"/>
          <p:nvPr/>
        </p:nvSpPr>
        <p:spPr>
          <a:xfrm>
            <a:off x="6035040" y="1874520"/>
            <a:ext cx="2468880" cy="228600"/>
          </a:xfrm>
          <a:prstGeom prst="rect">
            <a:avLst/>
          </a:prstGeom>
          <a:noFill/>
          <a:ln/>
        </p:spPr>
        <p:txBody>
          <a:bodyPr wrap="square" lIns="0" tIns="0" rIns="0" bIns="0" rtlCol="0" anchor="t"/>
          <a:lstStyle/>
          <a:p>
            <a:pPr indent="0" marL="0">
              <a:buNone/>
            </a:pPr>
            <a:r>
              <a:rPr lang="en-US" sz="1000" b="1" spc="100" kern="0" dirty="0">
                <a:solidFill>
                  <a:schemeClr val="accent6"/>
                </a:solidFill>
              </a:rPr>
              <a:t>LONGEST COMMON SUBSEQUENCE</a:t>
            </a:r>
            <a:endParaRPr lang="en-US" sz="1000" dirty="0"/>
          </a:p>
        </p:txBody>
      </p:sp>
      <p:sp>
        <p:nvSpPr>
          <p:cNvPr id="37" name="Text 35"/>
          <p:cNvSpPr txBox="1"/>
          <p:nvPr/>
        </p:nvSpPr>
        <p:spPr>
          <a:xfrm>
            <a:off x="6035040" y="2148840"/>
            <a:ext cx="2468880" cy="685800"/>
          </a:xfrm>
          <a:prstGeom prst="rect">
            <a:avLst/>
          </a:prstGeom>
          <a:noFill/>
          <a:ln/>
        </p:spPr>
        <p:txBody>
          <a:bodyPr wrap="square" lIns="0" tIns="0" rIns="0" bIns="0" rtlCol="0" anchor="ctr"/>
          <a:lstStyle/>
          <a:p>
            <a:pPr indent="0" marL="0">
              <a:buNone/>
            </a:pPr>
            <a:r>
              <a:rPr lang="en-US" sz="4400" b="1" dirty="0">
                <a:solidFill>
                  <a:schemeClr val="accent1"/>
                </a:solidFill>
              </a:rPr>
              <a:t>BCAB</a:t>
            </a:r>
            <a:endParaRPr lang="en-US" sz="4400" dirty="0"/>
          </a:p>
        </p:txBody>
      </p:sp>
      <p:sp>
        <p:nvSpPr>
          <p:cNvPr id="38" name="Text 36"/>
          <p:cNvSpPr txBox="1"/>
          <p:nvPr/>
        </p:nvSpPr>
        <p:spPr>
          <a:xfrm>
            <a:off x="6035040" y="2880360"/>
            <a:ext cx="2468880" cy="365760"/>
          </a:xfrm>
          <a:prstGeom prst="rect">
            <a:avLst/>
          </a:prstGeom>
          <a:noFill/>
          <a:ln/>
        </p:spPr>
        <p:txBody>
          <a:bodyPr wrap="square" lIns="0" tIns="0" rIns="0" bIns="0" rtlCol="0" anchor="t"/>
          <a:lstStyle/>
          <a:p>
            <a:pPr indent="0" marL="0">
              <a:buNone/>
            </a:pPr>
            <a:r>
              <a:rPr lang="en-US" sz="2000" b="1" dirty="0">
                <a:solidFill>
                  <a:schemeClr val="tx2"/>
                </a:solidFill>
              </a:rPr>
              <a:t>Length = 4</a:t>
            </a:r>
            <a:endParaRPr lang="en-US" sz="2000" dirty="0"/>
          </a:p>
        </p:txBody>
      </p:sp>
      <p:sp>
        <p:nvSpPr>
          <p:cNvPr id="39" name="Text 37"/>
          <p:cNvSpPr txBox="1"/>
          <p:nvPr/>
        </p:nvSpPr>
        <p:spPr>
          <a:xfrm>
            <a:off x="6035040" y="3429000"/>
            <a:ext cx="2468880" cy="100584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1"/>
                </a:solidFill>
              </a:rPr>
              <a:t>Letters need not be adjacent</a:t>
            </a:r>
            <a:endParaRPr lang="en-US" sz="1400" dirty="0"/>
          </a:p>
          <a:p>
            <a:pPr marL="342900" indent="-342900">
              <a:spcAft>
                <a:spcPts val="600"/>
              </a:spcAft>
              <a:buSzPct val="100000"/>
              <a:buChar char="•"/>
            </a:pPr>
            <a:r>
              <a:rPr lang="en-US" sz="1400" dirty="0">
                <a:solidFill>
                  <a:schemeClr val="tx1"/>
                </a:solidFill>
              </a:rPr>
              <a:t>Order must be preserved</a:t>
            </a:r>
            <a:endParaRPr lang="en-US" sz="14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7A8CA3"/>
                </a:solidFill>
              </a:defRPr>
            </a:lvl1pPr>
          </a:lstStyle>
          <a:p>
            <a:pPr algn="l"/>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40080"/>
          </a:xfrm>
          <a:prstGeom prst="rect">
            <a:avLst/>
          </a:prstGeom>
          <a:noFill/>
          <a:ln/>
        </p:spPr>
        <p:txBody>
          <a:bodyPr wrap="square" lIns="0" tIns="0" rIns="0" bIns="0" rtlCol="0" anchor="ctr"/>
          <a:lstStyle/>
          <a:p>
            <a:pPr algn="l" indent="0" marL="0">
              <a:buNone/>
            </a:pPr>
            <a:r>
              <a:rPr lang="en-US" sz="3200" b="1" dirty="0">
                <a:solidFill>
                  <a:schemeClr val="tx2"/>
                </a:solidFill>
              </a:rPr>
              <a:t>DP Approach &amp; Recurrence</a:t>
            </a:r>
            <a:endParaRPr lang="en-US" sz="3200" dirty="0"/>
          </a:p>
        </p:txBody>
      </p:sp>
      <p:sp>
        <p:nvSpPr>
          <p:cNvPr id="3" name="Shape 1"/>
          <p:cNvSpPr/>
          <p:nvPr/>
        </p:nvSpPr>
        <p:spPr>
          <a:xfrm>
            <a:off x="457200" y="1051560"/>
            <a:ext cx="1463040" cy="777240"/>
          </a:xfrm>
          <a:prstGeom prst="roundRect">
            <a:avLst>
              <a:gd name="adj" fmla="val 9412"/>
            </a:avLst>
          </a:prstGeom>
          <a:solidFill>
            <a:schemeClr val="bg2"/>
          </a:solidFill>
          <a:ln w="12700">
            <a:solidFill>
              <a:schemeClr val="bg2"/>
            </a:solidFill>
            <a:prstDash val="solid"/>
          </a:ln>
        </p:spPr>
      </p:sp>
      <p:sp>
        <p:nvSpPr>
          <p:cNvPr id="4" name="Shape 2"/>
          <p:cNvSpPr/>
          <p:nvPr/>
        </p:nvSpPr>
        <p:spPr>
          <a:xfrm>
            <a:off x="548640" y="1161288"/>
            <a:ext cx="274320" cy="274320"/>
          </a:xfrm>
          <a:prstGeom prst="ellipse">
            <a:avLst/>
          </a:prstGeom>
          <a:solidFill>
            <a:schemeClr val="accent1"/>
          </a:solidFill>
          <a:ln w="12700">
            <a:solidFill>
              <a:schemeClr val="accent1"/>
            </a:solidFill>
            <a:prstDash val="solid"/>
          </a:ln>
        </p:spPr>
      </p:sp>
      <p:sp>
        <p:nvSpPr>
          <p:cNvPr id="5" name="Text 3"/>
          <p:cNvSpPr txBox="1"/>
          <p:nvPr/>
        </p:nvSpPr>
        <p:spPr>
          <a:xfrm>
            <a:off x="548640" y="1161288"/>
            <a:ext cx="274320" cy="274320"/>
          </a:xfrm>
          <a:prstGeom prst="rect">
            <a:avLst/>
          </a:prstGeom>
          <a:noFill/>
          <a:ln/>
        </p:spPr>
        <p:txBody>
          <a:bodyPr wrap="square" lIns="0" tIns="0" rIns="0" bIns="0" rtlCol="0" anchor="ctr"/>
          <a:lstStyle/>
          <a:p>
            <a:pPr algn="ctr" indent="0" marL="0">
              <a:buNone/>
            </a:pPr>
            <a:r>
              <a:rPr lang="en-US" sz="1200" b="1" dirty="0">
                <a:solidFill>
                  <a:schemeClr val="bg1"/>
                </a:solidFill>
              </a:rPr>
              <a:t>1</a:t>
            </a:r>
            <a:endParaRPr lang="en-US" sz="1200" dirty="0"/>
          </a:p>
        </p:txBody>
      </p:sp>
      <p:sp>
        <p:nvSpPr>
          <p:cNvPr id="6" name="Text 4"/>
          <p:cNvSpPr txBox="1"/>
          <p:nvPr/>
        </p:nvSpPr>
        <p:spPr>
          <a:xfrm>
            <a:off x="548640" y="1463040"/>
            <a:ext cx="1280160" cy="329184"/>
          </a:xfrm>
          <a:prstGeom prst="rect">
            <a:avLst/>
          </a:prstGeom>
          <a:noFill/>
          <a:ln/>
        </p:spPr>
        <p:txBody>
          <a:bodyPr wrap="square" lIns="0" tIns="0" rIns="0" bIns="0" rtlCol="0" anchor="t"/>
          <a:lstStyle/>
          <a:p>
            <a:pPr indent="0" marL="0">
              <a:buNone/>
            </a:pPr>
            <a:r>
              <a:rPr lang="en-US" sz="1100" dirty="0">
                <a:solidFill>
                  <a:schemeClr val="tx1"/>
                </a:solidFill>
              </a:rPr>
              <a:t>Split strings into prefixes</a:t>
            </a:r>
            <a:endParaRPr lang="en-US" sz="1100" dirty="0"/>
          </a:p>
        </p:txBody>
      </p:sp>
      <p:sp>
        <p:nvSpPr>
          <p:cNvPr id="7" name="Shape 5"/>
          <p:cNvSpPr/>
          <p:nvPr/>
        </p:nvSpPr>
        <p:spPr>
          <a:xfrm>
            <a:off x="1920240" y="1440180"/>
            <a:ext cx="109728" cy="0"/>
          </a:xfrm>
          <a:prstGeom prst="line">
            <a:avLst/>
          </a:prstGeom>
          <a:noFill/>
          <a:ln w="15875">
            <a:solidFill>
              <a:srgbClr val="7A8CA3"/>
            </a:solidFill>
            <a:prstDash val="solid"/>
            <a:tailEnd type="triangle"/>
          </a:ln>
        </p:spPr>
      </p:sp>
      <p:sp>
        <p:nvSpPr>
          <p:cNvPr id="8" name="Shape 6"/>
          <p:cNvSpPr/>
          <p:nvPr/>
        </p:nvSpPr>
        <p:spPr>
          <a:xfrm>
            <a:off x="2029968" y="1051560"/>
            <a:ext cx="1463040" cy="777240"/>
          </a:xfrm>
          <a:prstGeom prst="roundRect">
            <a:avLst>
              <a:gd name="adj" fmla="val 9412"/>
            </a:avLst>
          </a:prstGeom>
          <a:solidFill>
            <a:schemeClr val="bg2"/>
          </a:solidFill>
          <a:ln w="12700">
            <a:solidFill>
              <a:schemeClr val="bg2"/>
            </a:solidFill>
            <a:prstDash val="solid"/>
          </a:ln>
        </p:spPr>
      </p:sp>
      <p:sp>
        <p:nvSpPr>
          <p:cNvPr id="9" name="Shape 7"/>
          <p:cNvSpPr/>
          <p:nvPr/>
        </p:nvSpPr>
        <p:spPr>
          <a:xfrm>
            <a:off x="2121408" y="1161288"/>
            <a:ext cx="274320" cy="274320"/>
          </a:xfrm>
          <a:prstGeom prst="ellipse">
            <a:avLst/>
          </a:prstGeom>
          <a:solidFill>
            <a:schemeClr val="accent1"/>
          </a:solidFill>
          <a:ln w="12700">
            <a:solidFill>
              <a:schemeClr val="accent1"/>
            </a:solidFill>
            <a:prstDash val="solid"/>
          </a:ln>
        </p:spPr>
      </p:sp>
      <p:sp>
        <p:nvSpPr>
          <p:cNvPr id="10" name="Text 8"/>
          <p:cNvSpPr txBox="1"/>
          <p:nvPr/>
        </p:nvSpPr>
        <p:spPr>
          <a:xfrm>
            <a:off x="2121408" y="1161288"/>
            <a:ext cx="274320" cy="274320"/>
          </a:xfrm>
          <a:prstGeom prst="rect">
            <a:avLst/>
          </a:prstGeom>
          <a:noFill/>
          <a:ln/>
        </p:spPr>
        <p:txBody>
          <a:bodyPr wrap="square" lIns="0" tIns="0" rIns="0" bIns="0" rtlCol="0" anchor="ctr"/>
          <a:lstStyle/>
          <a:p>
            <a:pPr algn="ctr" indent="0" marL="0">
              <a:buNone/>
            </a:pPr>
            <a:r>
              <a:rPr lang="en-US" sz="1200" b="1" dirty="0">
                <a:solidFill>
                  <a:schemeClr val="bg1"/>
                </a:solidFill>
              </a:rPr>
              <a:t>2</a:t>
            </a:r>
            <a:endParaRPr lang="en-US" sz="1200" dirty="0"/>
          </a:p>
        </p:txBody>
      </p:sp>
      <p:sp>
        <p:nvSpPr>
          <p:cNvPr id="11" name="Text 9"/>
          <p:cNvSpPr txBox="1"/>
          <p:nvPr/>
        </p:nvSpPr>
        <p:spPr>
          <a:xfrm>
            <a:off x="2121408" y="1463040"/>
            <a:ext cx="1280160" cy="329184"/>
          </a:xfrm>
          <a:prstGeom prst="rect">
            <a:avLst/>
          </a:prstGeom>
          <a:noFill/>
          <a:ln/>
        </p:spPr>
        <p:txBody>
          <a:bodyPr wrap="square" lIns="0" tIns="0" rIns="0" bIns="0" rtlCol="0" anchor="t"/>
          <a:lstStyle/>
          <a:p>
            <a:pPr indent="0" marL="0">
              <a:buNone/>
            </a:pPr>
            <a:r>
              <a:rPr lang="en-US" sz="1100" dirty="0">
                <a:solidFill>
                  <a:schemeClr val="tx1"/>
                </a:solidFill>
              </a:rPr>
              <a:t>Create a 2D table dp</a:t>
            </a:r>
            <a:endParaRPr lang="en-US" sz="1100" dirty="0"/>
          </a:p>
        </p:txBody>
      </p:sp>
      <p:sp>
        <p:nvSpPr>
          <p:cNvPr id="12" name="Shape 10"/>
          <p:cNvSpPr/>
          <p:nvPr/>
        </p:nvSpPr>
        <p:spPr>
          <a:xfrm>
            <a:off x="3493008" y="1440180"/>
            <a:ext cx="109728" cy="0"/>
          </a:xfrm>
          <a:prstGeom prst="line">
            <a:avLst/>
          </a:prstGeom>
          <a:noFill/>
          <a:ln w="15875">
            <a:solidFill>
              <a:srgbClr val="7A8CA3"/>
            </a:solidFill>
            <a:prstDash val="solid"/>
            <a:tailEnd type="triangle"/>
          </a:ln>
        </p:spPr>
      </p:sp>
      <p:sp>
        <p:nvSpPr>
          <p:cNvPr id="13" name="Shape 11"/>
          <p:cNvSpPr/>
          <p:nvPr/>
        </p:nvSpPr>
        <p:spPr>
          <a:xfrm>
            <a:off x="3602736" y="1051560"/>
            <a:ext cx="1463040" cy="777240"/>
          </a:xfrm>
          <a:prstGeom prst="roundRect">
            <a:avLst>
              <a:gd name="adj" fmla="val 9412"/>
            </a:avLst>
          </a:prstGeom>
          <a:solidFill>
            <a:schemeClr val="bg2"/>
          </a:solidFill>
          <a:ln w="12700">
            <a:solidFill>
              <a:schemeClr val="bg2"/>
            </a:solidFill>
            <a:prstDash val="solid"/>
          </a:ln>
        </p:spPr>
      </p:sp>
      <p:sp>
        <p:nvSpPr>
          <p:cNvPr id="14" name="Shape 12"/>
          <p:cNvSpPr/>
          <p:nvPr/>
        </p:nvSpPr>
        <p:spPr>
          <a:xfrm>
            <a:off x="3694176" y="1161288"/>
            <a:ext cx="274320" cy="274320"/>
          </a:xfrm>
          <a:prstGeom prst="ellipse">
            <a:avLst/>
          </a:prstGeom>
          <a:solidFill>
            <a:schemeClr val="accent1"/>
          </a:solidFill>
          <a:ln w="12700">
            <a:solidFill>
              <a:schemeClr val="accent1"/>
            </a:solidFill>
            <a:prstDash val="solid"/>
          </a:ln>
        </p:spPr>
      </p:sp>
      <p:sp>
        <p:nvSpPr>
          <p:cNvPr id="15" name="Text 13"/>
          <p:cNvSpPr txBox="1"/>
          <p:nvPr/>
        </p:nvSpPr>
        <p:spPr>
          <a:xfrm>
            <a:off x="3694176" y="1161288"/>
            <a:ext cx="274320" cy="274320"/>
          </a:xfrm>
          <a:prstGeom prst="rect">
            <a:avLst/>
          </a:prstGeom>
          <a:noFill/>
          <a:ln/>
        </p:spPr>
        <p:txBody>
          <a:bodyPr wrap="square" lIns="0" tIns="0" rIns="0" bIns="0" rtlCol="0" anchor="ctr"/>
          <a:lstStyle/>
          <a:p>
            <a:pPr algn="ctr" indent="0" marL="0">
              <a:buNone/>
            </a:pPr>
            <a:r>
              <a:rPr lang="en-US" sz="1200" b="1" dirty="0">
                <a:solidFill>
                  <a:schemeClr val="bg1"/>
                </a:solidFill>
              </a:rPr>
              <a:t>3</a:t>
            </a:r>
            <a:endParaRPr lang="en-US" sz="1200" dirty="0"/>
          </a:p>
        </p:txBody>
      </p:sp>
      <p:sp>
        <p:nvSpPr>
          <p:cNvPr id="16" name="Text 14"/>
          <p:cNvSpPr txBox="1"/>
          <p:nvPr/>
        </p:nvSpPr>
        <p:spPr>
          <a:xfrm>
            <a:off x="3694176" y="1463040"/>
            <a:ext cx="1280160" cy="329184"/>
          </a:xfrm>
          <a:prstGeom prst="rect">
            <a:avLst/>
          </a:prstGeom>
          <a:noFill/>
          <a:ln/>
        </p:spPr>
        <p:txBody>
          <a:bodyPr wrap="square" lIns="0" tIns="0" rIns="0" bIns="0" rtlCol="0" anchor="t"/>
          <a:lstStyle/>
          <a:p>
            <a:pPr indent="0" marL="0">
              <a:buNone/>
            </a:pPr>
            <a:r>
              <a:rPr lang="en-US" sz="1100" dirty="0">
                <a:solidFill>
                  <a:schemeClr val="tx1"/>
                </a:solidFill>
              </a:rPr>
              <a:t>Store LCS length per prefix pair</a:t>
            </a:r>
            <a:endParaRPr lang="en-US" sz="1100" dirty="0"/>
          </a:p>
        </p:txBody>
      </p:sp>
      <p:sp>
        <p:nvSpPr>
          <p:cNvPr id="17" name="Shape 15"/>
          <p:cNvSpPr/>
          <p:nvPr/>
        </p:nvSpPr>
        <p:spPr>
          <a:xfrm>
            <a:off x="5065776" y="1440180"/>
            <a:ext cx="109728" cy="0"/>
          </a:xfrm>
          <a:prstGeom prst="line">
            <a:avLst/>
          </a:prstGeom>
          <a:noFill/>
          <a:ln w="15875">
            <a:solidFill>
              <a:srgbClr val="7A8CA3"/>
            </a:solidFill>
            <a:prstDash val="solid"/>
            <a:tailEnd type="triangle"/>
          </a:ln>
        </p:spPr>
      </p:sp>
      <p:sp>
        <p:nvSpPr>
          <p:cNvPr id="18" name="Shape 16"/>
          <p:cNvSpPr/>
          <p:nvPr/>
        </p:nvSpPr>
        <p:spPr>
          <a:xfrm>
            <a:off x="5175504" y="1051560"/>
            <a:ext cx="1463040" cy="777240"/>
          </a:xfrm>
          <a:prstGeom prst="roundRect">
            <a:avLst>
              <a:gd name="adj" fmla="val 9412"/>
            </a:avLst>
          </a:prstGeom>
          <a:solidFill>
            <a:schemeClr val="bg2"/>
          </a:solidFill>
          <a:ln w="12700">
            <a:solidFill>
              <a:schemeClr val="bg2"/>
            </a:solidFill>
            <a:prstDash val="solid"/>
          </a:ln>
        </p:spPr>
      </p:sp>
      <p:sp>
        <p:nvSpPr>
          <p:cNvPr id="19" name="Shape 17"/>
          <p:cNvSpPr/>
          <p:nvPr/>
        </p:nvSpPr>
        <p:spPr>
          <a:xfrm>
            <a:off x="5266944" y="1161288"/>
            <a:ext cx="274320" cy="274320"/>
          </a:xfrm>
          <a:prstGeom prst="ellipse">
            <a:avLst/>
          </a:prstGeom>
          <a:solidFill>
            <a:schemeClr val="accent1"/>
          </a:solidFill>
          <a:ln w="12700">
            <a:solidFill>
              <a:schemeClr val="accent1"/>
            </a:solidFill>
            <a:prstDash val="solid"/>
          </a:ln>
        </p:spPr>
      </p:sp>
      <p:sp>
        <p:nvSpPr>
          <p:cNvPr id="20" name="Text 18"/>
          <p:cNvSpPr txBox="1"/>
          <p:nvPr/>
        </p:nvSpPr>
        <p:spPr>
          <a:xfrm>
            <a:off x="5266944" y="1161288"/>
            <a:ext cx="274320" cy="274320"/>
          </a:xfrm>
          <a:prstGeom prst="rect">
            <a:avLst/>
          </a:prstGeom>
          <a:noFill/>
          <a:ln/>
        </p:spPr>
        <p:txBody>
          <a:bodyPr wrap="square" lIns="0" tIns="0" rIns="0" bIns="0" rtlCol="0" anchor="ctr"/>
          <a:lstStyle/>
          <a:p>
            <a:pPr algn="ctr" indent="0" marL="0">
              <a:buNone/>
            </a:pPr>
            <a:r>
              <a:rPr lang="en-US" sz="1200" b="1" dirty="0">
                <a:solidFill>
                  <a:schemeClr val="bg1"/>
                </a:solidFill>
              </a:rPr>
              <a:t>4</a:t>
            </a:r>
            <a:endParaRPr lang="en-US" sz="1200" dirty="0"/>
          </a:p>
        </p:txBody>
      </p:sp>
      <p:sp>
        <p:nvSpPr>
          <p:cNvPr id="21" name="Text 19"/>
          <p:cNvSpPr txBox="1"/>
          <p:nvPr/>
        </p:nvSpPr>
        <p:spPr>
          <a:xfrm>
            <a:off x="5266944" y="1463040"/>
            <a:ext cx="1280160" cy="329184"/>
          </a:xfrm>
          <a:prstGeom prst="rect">
            <a:avLst/>
          </a:prstGeom>
          <a:noFill/>
          <a:ln/>
        </p:spPr>
        <p:txBody>
          <a:bodyPr wrap="square" lIns="0" tIns="0" rIns="0" bIns="0" rtlCol="0" anchor="t"/>
          <a:lstStyle/>
          <a:p>
            <a:pPr indent="0" marL="0">
              <a:buNone/>
            </a:pPr>
            <a:r>
              <a:rPr lang="en-US" sz="1100" dirty="0">
                <a:solidFill>
                  <a:schemeClr val="tx1"/>
                </a:solidFill>
              </a:rPr>
              <a:t>Reuse earlier cells</a:t>
            </a:r>
            <a:endParaRPr lang="en-US" sz="1100" dirty="0"/>
          </a:p>
        </p:txBody>
      </p:sp>
      <p:sp>
        <p:nvSpPr>
          <p:cNvPr id="22" name="Shape 20"/>
          <p:cNvSpPr/>
          <p:nvPr/>
        </p:nvSpPr>
        <p:spPr>
          <a:xfrm>
            <a:off x="6638544" y="1440180"/>
            <a:ext cx="109728" cy="0"/>
          </a:xfrm>
          <a:prstGeom prst="line">
            <a:avLst/>
          </a:prstGeom>
          <a:noFill/>
          <a:ln w="15875">
            <a:solidFill>
              <a:srgbClr val="7A8CA3"/>
            </a:solidFill>
            <a:prstDash val="solid"/>
            <a:tailEnd type="triangle"/>
          </a:ln>
        </p:spPr>
      </p:sp>
      <p:sp>
        <p:nvSpPr>
          <p:cNvPr id="23" name="Shape 21"/>
          <p:cNvSpPr/>
          <p:nvPr/>
        </p:nvSpPr>
        <p:spPr>
          <a:xfrm>
            <a:off x="6748272" y="1051560"/>
            <a:ext cx="1463040" cy="777240"/>
          </a:xfrm>
          <a:prstGeom prst="roundRect">
            <a:avLst>
              <a:gd name="adj" fmla="val 9412"/>
            </a:avLst>
          </a:prstGeom>
          <a:solidFill>
            <a:schemeClr val="bg2"/>
          </a:solidFill>
          <a:ln w="12700">
            <a:solidFill>
              <a:schemeClr val="bg2"/>
            </a:solidFill>
            <a:prstDash val="solid"/>
          </a:ln>
        </p:spPr>
      </p:sp>
      <p:sp>
        <p:nvSpPr>
          <p:cNvPr id="24" name="Shape 22"/>
          <p:cNvSpPr/>
          <p:nvPr/>
        </p:nvSpPr>
        <p:spPr>
          <a:xfrm>
            <a:off x="6839712" y="1161288"/>
            <a:ext cx="274320" cy="274320"/>
          </a:xfrm>
          <a:prstGeom prst="ellipse">
            <a:avLst/>
          </a:prstGeom>
          <a:solidFill>
            <a:schemeClr val="accent1"/>
          </a:solidFill>
          <a:ln w="12700">
            <a:solidFill>
              <a:schemeClr val="accent1"/>
            </a:solidFill>
            <a:prstDash val="solid"/>
          </a:ln>
        </p:spPr>
      </p:sp>
      <p:sp>
        <p:nvSpPr>
          <p:cNvPr id="25" name="Text 23"/>
          <p:cNvSpPr txBox="1"/>
          <p:nvPr/>
        </p:nvSpPr>
        <p:spPr>
          <a:xfrm>
            <a:off x="6839712" y="1161288"/>
            <a:ext cx="274320" cy="274320"/>
          </a:xfrm>
          <a:prstGeom prst="rect">
            <a:avLst/>
          </a:prstGeom>
          <a:noFill/>
          <a:ln/>
        </p:spPr>
        <p:txBody>
          <a:bodyPr wrap="square" lIns="0" tIns="0" rIns="0" bIns="0" rtlCol="0" anchor="ctr"/>
          <a:lstStyle/>
          <a:p>
            <a:pPr algn="ctr" indent="0" marL="0">
              <a:buNone/>
            </a:pPr>
            <a:r>
              <a:rPr lang="en-US" sz="1200" b="1" dirty="0">
                <a:solidFill>
                  <a:schemeClr val="bg1"/>
                </a:solidFill>
              </a:rPr>
              <a:t>5</a:t>
            </a:r>
            <a:endParaRPr lang="en-US" sz="1200" dirty="0"/>
          </a:p>
        </p:txBody>
      </p:sp>
      <p:sp>
        <p:nvSpPr>
          <p:cNvPr id="26" name="Text 24"/>
          <p:cNvSpPr txBox="1"/>
          <p:nvPr/>
        </p:nvSpPr>
        <p:spPr>
          <a:xfrm>
            <a:off x="6839712" y="1463040"/>
            <a:ext cx="1280160" cy="329184"/>
          </a:xfrm>
          <a:prstGeom prst="rect">
            <a:avLst/>
          </a:prstGeom>
          <a:noFill/>
          <a:ln/>
        </p:spPr>
        <p:txBody>
          <a:bodyPr wrap="square" lIns="0" tIns="0" rIns="0" bIns="0" rtlCol="0" anchor="t"/>
          <a:lstStyle/>
          <a:p>
            <a:pPr indent="0" marL="0">
              <a:buNone/>
            </a:pPr>
            <a:r>
              <a:rPr lang="en-US" sz="1100" dirty="0">
                <a:solidFill>
                  <a:schemeClr val="tx1"/>
                </a:solidFill>
              </a:rPr>
              <a:t>dp[m][n] is the answer</a:t>
            </a:r>
            <a:endParaRPr lang="en-US" sz="1100" dirty="0"/>
          </a:p>
        </p:txBody>
      </p:sp>
      <p:sp>
        <p:nvSpPr>
          <p:cNvPr id="27" name="Shape 25"/>
          <p:cNvSpPr/>
          <p:nvPr/>
        </p:nvSpPr>
        <p:spPr>
          <a:xfrm>
            <a:off x="457200" y="2011680"/>
            <a:ext cx="4663440" cy="777240"/>
          </a:xfrm>
          <a:prstGeom prst="roundRect">
            <a:avLst>
              <a:gd name="adj" fmla="val 9412"/>
            </a:avLst>
          </a:prstGeom>
          <a:solidFill>
            <a:schemeClr val="bg2"/>
          </a:solidFill>
          <a:ln w="12700">
            <a:solidFill>
              <a:schemeClr val="bg2"/>
            </a:solidFill>
            <a:prstDash val="solid"/>
          </a:ln>
        </p:spPr>
      </p:sp>
      <p:sp>
        <p:nvSpPr>
          <p:cNvPr id="28" name="Shape 26"/>
          <p:cNvSpPr/>
          <p:nvPr/>
        </p:nvSpPr>
        <p:spPr>
          <a:xfrm>
            <a:off x="594360" y="2258568"/>
            <a:ext cx="274320" cy="274320"/>
          </a:xfrm>
          <a:prstGeom prst="ellipse">
            <a:avLst/>
          </a:prstGeom>
          <a:solidFill>
            <a:schemeClr val="accent2"/>
          </a:solidFill>
          <a:ln w="12700">
            <a:solidFill>
              <a:schemeClr val="accent2"/>
            </a:solidFill>
            <a:prstDash val="solid"/>
          </a:ln>
        </p:spPr>
      </p:sp>
      <p:sp>
        <p:nvSpPr>
          <p:cNvPr id="29" name="Text 27"/>
          <p:cNvSpPr txBox="1"/>
          <p:nvPr/>
        </p:nvSpPr>
        <p:spPr>
          <a:xfrm>
            <a:off x="1005840" y="2103120"/>
            <a:ext cx="4023360" cy="274320"/>
          </a:xfrm>
          <a:prstGeom prst="rect">
            <a:avLst/>
          </a:prstGeom>
          <a:noFill/>
          <a:ln/>
        </p:spPr>
        <p:txBody>
          <a:bodyPr wrap="square" lIns="0" tIns="0" rIns="0" bIns="0" rtlCol="0" anchor="t"/>
          <a:lstStyle/>
          <a:p>
            <a:pPr indent="0" marL="0">
              <a:buNone/>
            </a:pPr>
            <a:r>
              <a:rPr lang="en-US" sz="1400" b="1" dirty="0">
                <a:solidFill>
                  <a:schemeClr val="tx2"/>
                </a:solidFill>
              </a:rPr>
              <a:t>Match:  X[i-1] = Y[j-1]</a:t>
            </a:r>
            <a:endParaRPr lang="en-US" sz="1400" dirty="0"/>
          </a:p>
        </p:txBody>
      </p:sp>
      <p:sp>
        <p:nvSpPr>
          <p:cNvPr id="30" name="Text 28"/>
          <p:cNvSpPr txBox="1"/>
          <p:nvPr/>
        </p:nvSpPr>
        <p:spPr>
          <a:xfrm>
            <a:off x="1005840" y="2395728"/>
            <a:ext cx="4023360" cy="292608"/>
          </a:xfrm>
          <a:prstGeom prst="rect">
            <a:avLst/>
          </a:prstGeom>
          <a:noFill/>
          <a:ln/>
        </p:spPr>
        <p:txBody>
          <a:bodyPr wrap="square" lIns="0" tIns="0" rIns="0" bIns="0" rtlCol="0" anchor="t"/>
          <a:lstStyle/>
          <a:p>
            <a:pPr indent="0" marL="0">
              <a:buNone/>
            </a:pPr>
            <a:r>
              <a:rPr lang="en-US" sz="1600" i="1" dirty="0">
                <a:solidFill>
                  <a:schemeClr val="accent1"/>
                </a:solidFill>
              </a:rPr>
              <a:t>dp[i][j] = dp[i-1][j-1] + 1</a:t>
            </a:r>
            <a:endParaRPr lang="en-US" sz="1600" dirty="0"/>
          </a:p>
        </p:txBody>
      </p:sp>
      <p:sp>
        <p:nvSpPr>
          <p:cNvPr id="31" name="Shape 29"/>
          <p:cNvSpPr/>
          <p:nvPr/>
        </p:nvSpPr>
        <p:spPr>
          <a:xfrm>
            <a:off x="457200" y="2898648"/>
            <a:ext cx="4663440" cy="777240"/>
          </a:xfrm>
          <a:prstGeom prst="roundRect">
            <a:avLst>
              <a:gd name="adj" fmla="val 9412"/>
            </a:avLst>
          </a:prstGeom>
          <a:solidFill>
            <a:schemeClr val="bg2"/>
          </a:solidFill>
          <a:ln w="12700">
            <a:solidFill>
              <a:schemeClr val="bg2"/>
            </a:solidFill>
            <a:prstDash val="solid"/>
          </a:ln>
        </p:spPr>
      </p:sp>
      <p:sp>
        <p:nvSpPr>
          <p:cNvPr id="32" name="Shape 30"/>
          <p:cNvSpPr/>
          <p:nvPr/>
        </p:nvSpPr>
        <p:spPr>
          <a:xfrm>
            <a:off x="594360" y="3145536"/>
            <a:ext cx="274320" cy="274320"/>
          </a:xfrm>
          <a:prstGeom prst="ellipse">
            <a:avLst/>
          </a:prstGeom>
          <a:solidFill>
            <a:schemeClr val="accent1"/>
          </a:solidFill>
          <a:ln w="12700">
            <a:solidFill>
              <a:schemeClr val="accent1"/>
            </a:solidFill>
            <a:prstDash val="solid"/>
          </a:ln>
        </p:spPr>
      </p:sp>
      <p:sp>
        <p:nvSpPr>
          <p:cNvPr id="33" name="Text 31"/>
          <p:cNvSpPr txBox="1"/>
          <p:nvPr/>
        </p:nvSpPr>
        <p:spPr>
          <a:xfrm>
            <a:off x="1005840" y="2990088"/>
            <a:ext cx="4023360" cy="274320"/>
          </a:xfrm>
          <a:prstGeom prst="rect">
            <a:avLst/>
          </a:prstGeom>
          <a:noFill/>
          <a:ln/>
        </p:spPr>
        <p:txBody>
          <a:bodyPr wrap="square" lIns="0" tIns="0" rIns="0" bIns="0" rtlCol="0" anchor="t"/>
          <a:lstStyle/>
          <a:p>
            <a:pPr indent="0" marL="0">
              <a:buNone/>
            </a:pPr>
            <a:r>
              <a:rPr lang="en-US" sz="1400" b="1" dirty="0">
                <a:solidFill>
                  <a:schemeClr val="tx2"/>
                </a:solidFill>
              </a:rPr>
              <a:t>No match:  X[i-1] ≠ Y[j-1]</a:t>
            </a:r>
            <a:endParaRPr lang="en-US" sz="1400" dirty="0"/>
          </a:p>
        </p:txBody>
      </p:sp>
      <p:sp>
        <p:nvSpPr>
          <p:cNvPr id="34" name="Text 32"/>
          <p:cNvSpPr txBox="1"/>
          <p:nvPr/>
        </p:nvSpPr>
        <p:spPr>
          <a:xfrm>
            <a:off x="1005840" y="3282696"/>
            <a:ext cx="4023360" cy="292608"/>
          </a:xfrm>
          <a:prstGeom prst="rect">
            <a:avLst/>
          </a:prstGeom>
          <a:noFill/>
          <a:ln/>
        </p:spPr>
        <p:txBody>
          <a:bodyPr wrap="square" lIns="0" tIns="0" rIns="0" bIns="0" rtlCol="0" anchor="t"/>
          <a:lstStyle/>
          <a:p>
            <a:pPr indent="0" marL="0">
              <a:buNone/>
            </a:pPr>
            <a:r>
              <a:rPr lang="en-US" sz="1600" i="1" dirty="0">
                <a:solidFill>
                  <a:schemeClr val="accent1"/>
                </a:solidFill>
              </a:rPr>
              <a:t>dp[i][j] = max( dp[i-1][j], dp[i][j-1] )</a:t>
            </a:r>
            <a:endParaRPr lang="en-US" sz="1600" dirty="0"/>
          </a:p>
        </p:txBody>
      </p:sp>
      <p:sp>
        <p:nvSpPr>
          <p:cNvPr id="35" name="Shape 33"/>
          <p:cNvSpPr/>
          <p:nvPr/>
        </p:nvSpPr>
        <p:spPr>
          <a:xfrm>
            <a:off x="457200" y="3785616"/>
            <a:ext cx="4663440" cy="777240"/>
          </a:xfrm>
          <a:prstGeom prst="roundRect">
            <a:avLst>
              <a:gd name="adj" fmla="val 9412"/>
            </a:avLst>
          </a:prstGeom>
          <a:solidFill>
            <a:schemeClr val="bg2"/>
          </a:solidFill>
          <a:ln w="12700">
            <a:solidFill>
              <a:schemeClr val="bg2"/>
            </a:solidFill>
            <a:prstDash val="solid"/>
          </a:ln>
        </p:spPr>
      </p:sp>
      <p:sp>
        <p:nvSpPr>
          <p:cNvPr id="36" name="Shape 34"/>
          <p:cNvSpPr/>
          <p:nvPr/>
        </p:nvSpPr>
        <p:spPr>
          <a:xfrm>
            <a:off x="594360" y="4032504"/>
            <a:ext cx="274320" cy="274320"/>
          </a:xfrm>
          <a:prstGeom prst="ellipse">
            <a:avLst/>
          </a:prstGeom>
          <a:solidFill>
            <a:schemeClr val="accent3"/>
          </a:solidFill>
          <a:ln w="12700">
            <a:solidFill>
              <a:schemeClr val="accent3"/>
            </a:solidFill>
            <a:prstDash val="solid"/>
          </a:ln>
        </p:spPr>
      </p:sp>
      <p:sp>
        <p:nvSpPr>
          <p:cNvPr id="37" name="Text 35"/>
          <p:cNvSpPr txBox="1"/>
          <p:nvPr/>
        </p:nvSpPr>
        <p:spPr>
          <a:xfrm>
            <a:off x="1005840" y="3877056"/>
            <a:ext cx="4023360" cy="274320"/>
          </a:xfrm>
          <a:prstGeom prst="rect">
            <a:avLst/>
          </a:prstGeom>
          <a:noFill/>
          <a:ln/>
        </p:spPr>
        <p:txBody>
          <a:bodyPr wrap="square" lIns="0" tIns="0" rIns="0" bIns="0" rtlCol="0" anchor="t"/>
          <a:lstStyle/>
          <a:p>
            <a:pPr indent="0" marL="0">
              <a:buNone/>
            </a:pPr>
            <a:r>
              <a:rPr lang="en-US" sz="1400" b="1" dirty="0">
                <a:solidFill>
                  <a:schemeClr val="tx2"/>
                </a:solidFill>
              </a:rPr>
              <a:t>Base case:  empty prefix</a:t>
            </a:r>
            <a:endParaRPr lang="en-US" sz="1400" dirty="0"/>
          </a:p>
        </p:txBody>
      </p:sp>
      <p:sp>
        <p:nvSpPr>
          <p:cNvPr id="38" name="Text 36"/>
          <p:cNvSpPr txBox="1"/>
          <p:nvPr/>
        </p:nvSpPr>
        <p:spPr>
          <a:xfrm>
            <a:off x="1005840" y="4169664"/>
            <a:ext cx="4023360" cy="292608"/>
          </a:xfrm>
          <a:prstGeom prst="rect">
            <a:avLst/>
          </a:prstGeom>
          <a:noFill/>
          <a:ln/>
        </p:spPr>
        <p:txBody>
          <a:bodyPr wrap="square" lIns="0" tIns="0" rIns="0" bIns="0" rtlCol="0" anchor="t"/>
          <a:lstStyle/>
          <a:p>
            <a:pPr indent="0" marL="0">
              <a:buNone/>
            </a:pPr>
            <a:r>
              <a:rPr lang="en-US" sz="1600" i="1" dirty="0">
                <a:solidFill>
                  <a:schemeClr val="accent1"/>
                </a:solidFill>
              </a:rPr>
              <a:t>dp[0][j] = dp[i][0] = 0</a:t>
            </a:r>
            <a:endParaRPr lang="en-US" sz="1600" dirty="0"/>
          </a:p>
        </p:txBody>
      </p:sp>
      <p:sp>
        <p:nvSpPr>
          <p:cNvPr id="39" name="Text 37"/>
          <p:cNvSpPr txBox="1"/>
          <p:nvPr/>
        </p:nvSpPr>
        <p:spPr>
          <a:xfrm>
            <a:off x="5394960" y="2011680"/>
            <a:ext cx="3291840" cy="274320"/>
          </a:xfrm>
          <a:prstGeom prst="rect">
            <a:avLst/>
          </a:prstGeom>
          <a:noFill/>
          <a:ln/>
        </p:spPr>
        <p:txBody>
          <a:bodyPr wrap="square" lIns="0" tIns="0" rIns="0" bIns="0" rtlCol="0" anchor="t"/>
          <a:lstStyle/>
          <a:p>
            <a:pPr indent="0" marL="0">
              <a:buNone/>
            </a:pPr>
            <a:r>
              <a:rPr lang="en-US" sz="1400" b="1" dirty="0">
                <a:solidFill>
                  <a:schemeClr val="tx2"/>
                </a:solidFill>
              </a:rPr>
              <a:t>Which cells does dp[i][j] use?</a:t>
            </a:r>
            <a:endParaRPr lang="en-US" sz="1400" dirty="0"/>
          </a:p>
        </p:txBody>
      </p:sp>
      <p:sp>
        <p:nvSpPr>
          <p:cNvPr id="40" name="Shape 38"/>
          <p:cNvSpPr/>
          <p:nvPr/>
        </p:nvSpPr>
        <p:spPr>
          <a:xfrm>
            <a:off x="5486400" y="2423160"/>
            <a:ext cx="1234440" cy="685800"/>
          </a:xfrm>
          <a:prstGeom prst="roundRect">
            <a:avLst>
              <a:gd name="adj" fmla="val 10667"/>
            </a:avLst>
          </a:prstGeom>
          <a:solidFill>
            <a:schemeClr val="accent2"/>
          </a:solidFill>
          <a:ln w="12700">
            <a:solidFill>
              <a:schemeClr val="accent2"/>
            </a:solidFill>
            <a:prstDash val="solid"/>
          </a:ln>
        </p:spPr>
      </p:sp>
      <p:sp>
        <p:nvSpPr>
          <p:cNvPr id="41" name="Text 39"/>
          <p:cNvSpPr txBox="1"/>
          <p:nvPr/>
        </p:nvSpPr>
        <p:spPr>
          <a:xfrm>
            <a:off x="5486400" y="2423160"/>
            <a:ext cx="1234440" cy="685800"/>
          </a:xfrm>
          <a:prstGeom prst="rect">
            <a:avLst/>
          </a:prstGeom>
          <a:noFill/>
          <a:ln/>
        </p:spPr>
        <p:txBody>
          <a:bodyPr wrap="square" lIns="0" tIns="0" rIns="0" bIns="0" rtlCol="0" anchor="ctr"/>
          <a:lstStyle/>
          <a:p>
            <a:pPr algn="ctr" indent="0" marL="0">
              <a:buNone/>
            </a:pPr>
            <a:r>
              <a:rPr lang="en-US" sz="1300" b="1" dirty="0">
                <a:solidFill>
                  <a:schemeClr val="tx1"/>
                </a:solidFill>
              </a:rPr>
              <a:t>dp[i-1][j-1]</a:t>
            </a:r>
            <a:endParaRPr lang="en-US" sz="1300" dirty="0"/>
          </a:p>
          <a:p>
            <a:pPr algn="ctr" indent="0" marL="0">
              <a:buNone/>
            </a:pPr>
            <a:r>
              <a:rPr lang="en-US" sz="1100" dirty="0">
                <a:solidFill>
                  <a:schemeClr val="tx1"/>
                </a:solidFill>
              </a:rPr>
              <a:t>+1 if match</a:t>
            </a:r>
            <a:endParaRPr lang="en-US" sz="1300" dirty="0"/>
          </a:p>
        </p:txBody>
      </p:sp>
      <p:sp>
        <p:nvSpPr>
          <p:cNvPr id="42" name="Shape 40"/>
          <p:cNvSpPr/>
          <p:nvPr/>
        </p:nvSpPr>
        <p:spPr>
          <a:xfrm>
            <a:off x="7360920" y="2423160"/>
            <a:ext cx="1234440" cy="685800"/>
          </a:xfrm>
          <a:prstGeom prst="roundRect">
            <a:avLst>
              <a:gd name="adj" fmla="val 10667"/>
            </a:avLst>
          </a:prstGeom>
          <a:solidFill>
            <a:schemeClr val="accent1"/>
          </a:solidFill>
          <a:ln w="12700">
            <a:solidFill>
              <a:schemeClr val="accent1"/>
            </a:solidFill>
            <a:prstDash val="solid"/>
          </a:ln>
        </p:spPr>
      </p:sp>
      <p:sp>
        <p:nvSpPr>
          <p:cNvPr id="43" name="Text 41"/>
          <p:cNvSpPr txBox="1"/>
          <p:nvPr/>
        </p:nvSpPr>
        <p:spPr>
          <a:xfrm>
            <a:off x="7360920" y="2423160"/>
            <a:ext cx="1234440" cy="685800"/>
          </a:xfrm>
          <a:prstGeom prst="rect">
            <a:avLst/>
          </a:prstGeom>
          <a:noFill/>
          <a:ln/>
        </p:spPr>
        <p:txBody>
          <a:bodyPr wrap="square" lIns="0" tIns="0" rIns="0" bIns="0" rtlCol="0" anchor="ctr"/>
          <a:lstStyle/>
          <a:p>
            <a:pPr algn="ctr" indent="0" marL="0">
              <a:buNone/>
            </a:pPr>
            <a:r>
              <a:rPr lang="en-US" sz="1300" b="1" dirty="0">
                <a:solidFill>
                  <a:schemeClr val="bg1"/>
                </a:solidFill>
              </a:rPr>
              <a:t>dp[i-1][j]</a:t>
            </a:r>
            <a:endParaRPr lang="en-US" sz="1300" dirty="0"/>
          </a:p>
          <a:p>
            <a:pPr algn="ctr" indent="0" marL="0">
              <a:buNone/>
            </a:pPr>
            <a:r>
              <a:rPr lang="en-US" sz="1100" dirty="0">
                <a:solidFill>
                  <a:schemeClr val="bg1"/>
                </a:solidFill>
              </a:rPr>
              <a:t>above</a:t>
            </a:r>
            <a:endParaRPr lang="en-US" sz="1300" dirty="0"/>
          </a:p>
        </p:txBody>
      </p:sp>
      <p:sp>
        <p:nvSpPr>
          <p:cNvPr id="44" name="Shape 42"/>
          <p:cNvSpPr/>
          <p:nvPr/>
        </p:nvSpPr>
        <p:spPr>
          <a:xfrm>
            <a:off x="5486400" y="3657600"/>
            <a:ext cx="1234440" cy="685800"/>
          </a:xfrm>
          <a:prstGeom prst="roundRect">
            <a:avLst>
              <a:gd name="adj" fmla="val 10667"/>
            </a:avLst>
          </a:prstGeom>
          <a:solidFill>
            <a:schemeClr val="accent1"/>
          </a:solidFill>
          <a:ln w="12700">
            <a:solidFill>
              <a:schemeClr val="accent1"/>
            </a:solidFill>
            <a:prstDash val="solid"/>
          </a:ln>
        </p:spPr>
      </p:sp>
      <p:sp>
        <p:nvSpPr>
          <p:cNvPr id="45" name="Text 43"/>
          <p:cNvSpPr txBox="1"/>
          <p:nvPr/>
        </p:nvSpPr>
        <p:spPr>
          <a:xfrm>
            <a:off x="5486400" y="3657600"/>
            <a:ext cx="1234440" cy="685800"/>
          </a:xfrm>
          <a:prstGeom prst="rect">
            <a:avLst/>
          </a:prstGeom>
          <a:noFill/>
          <a:ln/>
        </p:spPr>
        <p:txBody>
          <a:bodyPr wrap="square" lIns="0" tIns="0" rIns="0" bIns="0" rtlCol="0" anchor="ctr"/>
          <a:lstStyle/>
          <a:p>
            <a:pPr algn="ctr" indent="0" marL="0">
              <a:buNone/>
            </a:pPr>
            <a:r>
              <a:rPr lang="en-US" sz="1300" b="1" dirty="0">
                <a:solidFill>
                  <a:schemeClr val="bg1"/>
                </a:solidFill>
              </a:rPr>
              <a:t>dp[i][j-1]</a:t>
            </a:r>
            <a:endParaRPr lang="en-US" sz="1300" dirty="0"/>
          </a:p>
          <a:p>
            <a:pPr algn="ctr" indent="0" marL="0">
              <a:buNone/>
            </a:pPr>
            <a:r>
              <a:rPr lang="en-US" sz="1100" dirty="0">
                <a:solidFill>
                  <a:schemeClr val="bg1"/>
                </a:solidFill>
              </a:rPr>
              <a:t>left</a:t>
            </a:r>
            <a:endParaRPr lang="en-US" sz="1300" dirty="0"/>
          </a:p>
        </p:txBody>
      </p:sp>
      <p:sp>
        <p:nvSpPr>
          <p:cNvPr id="46" name="Shape 44"/>
          <p:cNvSpPr/>
          <p:nvPr/>
        </p:nvSpPr>
        <p:spPr>
          <a:xfrm>
            <a:off x="7360920" y="3657600"/>
            <a:ext cx="1234440" cy="685800"/>
          </a:xfrm>
          <a:prstGeom prst="roundRect">
            <a:avLst>
              <a:gd name="adj" fmla="val 10667"/>
            </a:avLst>
          </a:prstGeom>
          <a:solidFill>
            <a:schemeClr val="tx2"/>
          </a:solidFill>
          <a:ln w="12700">
            <a:solidFill>
              <a:schemeClr val="tx2"/>
            </a:solidFill>
            <a:prstDash val="solid"/>
          </a:ln>
        </p:spPr>
      </p:sp>
      <p:sp>
        <p:nvSpPr>
          <p:cNvPr id="47" name="Text 45"/>
          <p:cNvSpPr txBox="1"/>
          <p:nvPr/>
        </p:nvSpPr>
        <p:spPr>
          <a:xfrm>
            <a:off x="7360920" y="3657600"/>
            <a:ext cx="1234440" cy="685800"/>
          </a:xfrm>
          <a:prstGeom prst="rect">
            <a:avLst/>
          </a:prstGeom>
          <a:noFill/>
          <a:ln/>
        </p:spPr>
        <p:txBody>
          <a:bodyPr wrap="square" lIns="0" tIns="0" rIns="0" bIns="0" rtlCol="0" anchor="ctr"/>
          <a:lstStyle/>
          <a:p>
            <a:pPr algn="ctr" indent="0" marL="0">
              <a:buNone/>
            </a:pPr>
            <a:r>
              <a:rPr lang="en-US" sz="1300" b="1" dirty="0">
                <a:solidFill>
                  <a:schemeClr val="bg1"/>
                </a:solidFill>
              </a:rPr>
              <a:t>dp[i][j]</a:t>
            </a:r>
            <a:endParaRPr lang="en-US" sz="1300" dirty="0"/>
          </a:p>
          <a:p>
            <a:pPr algn="ctr" indent="0" marL="0">
              <a:buNone/>
            </a:pPr>
            <a:r>
              <a:rPr lang="en-US" sz="1100" dirty="0">
                <a:solidFill>
                  <a:schemeClr val="bg1"/>
                </a:solidFill>
              </a:rPr>
              <a:t>current cell</a:t>
            </a:r>
            <a:endParaRPr lang="en-US" sz="1300" dirty="0"/>
          </a:p>
        </p:txBody>
      </p:sp>
      <p:sp>
        <p:nvSpPr>
          <p:cNvPr id="48" name="Shape 46"/>
          <p:cNvSpPr/>
          <p:nvPr/>
        </p:nvSpPr>
        <p:spPr>
          <a:xfrm>
            <a:off x="6720840" y="3108960"/>
            <a:ext cx="640080" cy="548640"/>
          </a:xfrm>
          <a:prstGeom prst="line">
            <a:avLst/>
          </a:prstGeom>
          <a:noFill/>
          <a:ln w="25400">
            <a:solidFill>
              <a:srgbClr val="F2A33A"/>
            </a:solidFill>
            <a:prstDash val="solid"/>
            <a:tailEnd type="triangle"/>
          </a:ln>
        </p:spPr>
      </p:sp>
      <p:sp>
        <p:nvSpPr>
          <p:cNvPr id="49" name="Shape 47"/>
          <p:cNvSpPr/>
          <p:nvPr/>
        </p:nvSpPr>
        <p:spPr>
          <a:xfrm>
            <a:off x="7978140" y="3108960"/>
            <a:ext cx="0" cy="548640"/>
          </a:xfrm>
          <a:prstGeom prst="line">
            <a:avLst/>
          </a:prstGeom>
          <a:noFill/>
          <a:ln w="25400">
            <a:solidFill>
              <a:srgbClr val="0E7C86"/>
            </a:solidFill>
            <a:prstDash val="solid"/>
            <a:tailEnd type="triangle"/>
          </a:ln>
        </p:spPr>
      </p:sp>
      <p:sp>
        <p:nvSpPr>
          <p:cNvPr id="50" name="Shape 48"/>
          <p:cNvSpPr/>
          <p:nvPr/>
        </p:nvSpPr>
        <p:spPr>
          <a:xfrm>
            <a:off x="6720840" y="4000500"/>
            <a:ext cx="640080" cy="0"/>
          </a:xfrm>
          <a:prstGeom prst="line">
            <a:avLst/>
          </a:prstGeom>
          <a:noFill/>
          <a:ln w="25400">
            <a:solidFill>
              <a:srgbClr val="0E7C86"/>
            </a:solidFill>
            <a:prstDash val="solid"/>
            <a:tailEnd type="triangle"/>
          </a:ln>
        </p:spPr>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7A8CA3"/>
                </a:solidFill>
              </a:defRPr>
            </a:lvl1pPr>
          </a:lstStyle>
          <a:p>
            <a:pPr algn="l"/>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40080"/>
          </a:xfrm>
          <a:prstGeom prst="rect">
            <a:avLst/>
          </a:prstGeom>
          <a:noFill/>
          <a:ln/>
        </p:spPr>
        <p:txBody>
          <a:bodyPr wrap="square" lIns="0" tIns="0" rIns="0" bIns="0" rtlCol="0" anchor="ctr"/>
          <a:lstStyle/>
          <a:p>
            <a:pPr algn="l" indent="0" marL="0">
              <a:buNone/>
            </a:pPr>
            <a:r>
              <a:rPr lang="en-US" sz="3200" b="1" dirty="0">
                <a:solidFill>
                  <a:schemeClr val="tx2"/>
                </a:solidFill>
              </a:rPr>
              <a:t>Building the DP Table</a:t>
            </a:r>
            <a:endParaRPr lang="en-US" sz="32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457200" y="1051560"/>
          <a:ext cx="6858000" cy="914400"/>
        </p:xfrm>
        <a:graphic>
          <a:graphicData uri="http://schemas.openxmlformats.org/drawingml/2006/table">
            <a:tbl>
              <a:tblPr/>
              <a:tblGrid>
                <a:gridCol w="566928"/>
                <a:gridCol w="566928"/>
                <a:gridCol w="566928"/>
                <a:gridCol w="566928"/>
                <a:gridCol w="566928"/>
                <a:gridCol w="566928"/>
                <a:gridCol w="566928"/>
              </a:tblGrid>
              <a:tr h="365760">
                <a:tc>
                  <a:txBody>
                    <a:bodyPr/>
                    <a:lstStyle/>
                    <a:p>
                      <a:pPr algn="ctr" indent="0" marL="0">
                        <a:buNone/>
                      </a:pPr>
                      <a:r>
                        <a:rPr lang="en-US" sz="1400" b="1" dirty="0">
                          <a:solidFill>
                            <a:srgbClr val="FFFFFF"/>
                          </a:solidFill>
                        </a:rPr>
                        <a:t>X \ Y</a:t>
                      </a:r>
                      <a:endParaRPr lang="en-US" sz="1400" dirty="0"/>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12263A"/>
                    </a:solidFill>
                  </a:tcPr>
                </a:tc>
                <a:tc>
                  <a:txBody>
                    <a:bodyPr/>
                    <a:lstStyle/>
                    <a:p>
                      <a:pPr algn="ctr" indent="0" marL="0">
                        <a:buNone/>
                      </a:pPr>
                      <a:r>
                        <a:rPr lang="en-US" sz="1400" b="1" dirty="0">
                          <a:solidFill>
                            <a:srgbClr val="FFFFFF"/>
                          </a:solidFill>
                        </a:rPr>
                        <a:t>ε</a:t>
                      </a:r>
                      <a:endParaRPr lang="en-US" sz="1400" dirty="0"/>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12263A"/>
                    </a:solidFill>
                  </a:tcPr>
                </a:tc>
                <a:tc>
                  <a:txBody>
                    <a:bodyPr/>
                    <a:lstStyle/>
                    <a:p>
                      <a:pPr algn="ctr" indent="0" marL="0">
                        <a:buNone/>
                      </a:pPr>
                      <a:r>
                        <a:rPr lang="en-US" sz="1400" b="1" dirty="0">
                          <a:solidFill>
                            <a:srgbClr val="FFFFFF"/>
                          </a:solidFill>
                        </a:rPr>
                        <a:t>B</a:t>
                      </a:r>
                      <a:endParaRPr lang="en-US" sz="1400" dirty="0"/>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12263A"/>
                    </a:solidFill>
                  </a:tcPr>
                </a:tc>
                <a:tc>
                  <a:txBody>
                    <a:bodyPr/>
                    <a:lstStyle/>
                    <a:p>
                      <a:pPr algn="ctr" indent="0" marL="0">
                        <a:buNone/>
                      </a:pPr>
                      <a:r>
                        <a:rPr lang="en-US" sz="1400" b="1" dirty="0">
                          <a:solidFill>
                            <a:srgbClr val="FFFFFF"/>
                          </a:solidFill>
                        </a:rPr>
                        <a:t>D</a:t>
                      </a:r>
                      <a:endParaRPr lang="en-US" sz="1400" dirty="0"/>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12263A"/>
                    </a:solidFill>
                  </a:tcPr>
                </a:tc>
                <a:tc>
                  <a:txBody>
                    <a:bodyPr/>
                    <a:lstStyle/>
                    <a:p>
                      <a:pPr algn="ctr" indent="0" marL="0">
                        <a:buNone/>
                      </a:pPr>
                      <a:r>
                        <a:rPr lang="en-US" sz="1400" b="1" dirty="0">
                          <a:solidFill>
                            <a:srgbClr val="FFFFFF"/>
                          </a:solidFill>
                        </a:rPr>
                        <a:t>C</a:t>
                      </a:r>
                      <a:endParaRPr lang="en-US" sz="1400" dirty="0"/>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12263A"/>
                    </a:solidFill>
                  </a:tcPr>
                </a:tc>
                <a:tc>
                  <a:txBody>
                    <a:bodyPr/>
                    <a:lstStyle/>
                    <a:p>
                      <a:pPr algn="ctr" indent="0" marL="0">
                        <a:buNone/>
                      </a:pPr>
                      <a:r>
                        <a:rPr lang="en-US" sz="1400" b="1" dirty="0">
                          <a:solidFill>
                            <a:srgbClr val="FFFFFF"/>
                          </a:solidFill>
                        </a:rPr>
                        <a:t>A</a:t>
                      </a:r>
                      <a:endParaRPr lang="en-US" sz="1400" dirty="0"/>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12263A"/>
                    </a:solidFill>
                  </a:tcPr>
                </a:tc>
                <a:tc>
                  <a:txBody>
                    <a:bodyPr/>
                    <a:lstStyle/>
                    <a:p>
                      <a:pPr algn="ctr" indent="0" marL="0">
                        <a:buNone/>
                      </a:pPr>
                      <a:r>
                        <a:rPr lang="en-US" sz="1400" b="1" dirty="0">
                          <a:solidFill>
                            <a:srgbClr val="FFFFFF"/>
                          </a:solidFill>
                        </a:rPr>
                        <a:t>B</a:t>
                      </a:r>
                      <a:endParaRPr lang="en-US" sz="1400" dirty="0"/>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12263A"/>
                    </a:solidFill>
                  </a:tcPr>
                </a:tc>
              </a:tr>
              <a:tr h="365760">
                <a:tc>
                  <a:txBody>
                    <a:bodyPr/>
                    <a:lstStyle/>
                    <a:p>
                      <a:pPr algn="ctr" indent="0" marL="0">
                        <a:buNone/>
                      </a:pPr>
                      <a:r>
                        <a:rPr lang="en-US" sz="1400" b="1" dirty="0">
                          <a:solidFill>
                            <a:srgbClr val="FFFFFF"/>
                          </a:solidFill>
                        </a:rPr>
                        <a:t>ε</a:t>
                      </a:r>
                      <a:endParaRPr lang="en-US" sz="1400" dirty="0"/>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12263A"/>
                    </a:solidFill>
                  </a:tcPr>
                </a:tc>
                <a:tc>
                  <a:txBody>
                    <a:bodyPr/>
                    <a:lstStyle/>
                    <a:p>
                      <a:pPr algn="ctr" indent="0" marL="0">
                        <a:buNone/>
                      </a:pPr>
                      <a:r>
                        <a:rPr lang="en-US" sz="1400" dirty="0">
                          <a:solidFill>
                            <a:srgbClr val="1B2B3A"/>
                          </a:solidFill>
                        </a:rPr>
                        <a:t>0</a:t>
                      </a:r>
                      <a:endParaRPr lang="en-US" sz="1400" dirty="0"/>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2F5F7"/>
                    </a:solidFill>
                  </a:tcPr>
                </a:tc>
                <a:tc>
                  <a:txBody>
                    <a:bodyPr/>
                    <a:lstStyle/>
                    <a:p>
                      <a:pPr algn="ctr" indent="0" marL="0">
                        <a:buNone/>
                      </a:pPr>
                      <a:r>
                        <a:rPr lang="en-US" sz="1400" dirty="0">
                          <a:solidFill>
                            <a:srgbClr val="1B2B3A"/>
                          </a:solidFill>
                        </a:rPr>
                        <a:t>0</a:t>
                      </a:r>
                      <a:endParaRPr lang="en-US" sz="1400" dirty="0"/>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2F5F7"/>
                    </a:solidFill>
                  </a:tcPr>
                </a:tc>
                <a:tc>
                  <a:txBody>
                    <a:bodyPr/>
                    <a:lstStyle/>
                    <a:p>
                      <a:pPr algn="ctr" indent="0" marL="0">
                        <a:buNone/>
                      </a:pPr>
                      <a:r>
                        <a:rPr lang="en-US" sz="1400" dirty="0">
                          <a:solidFill>
                            <a:srgbClr val="1B2B3A"/>
                          </a:solidFill>
                        </a:rPr>
                        <a:t>0</a:t>
                      </a:r>
                      <a:endParaRPr lang="en-US" sz="1400" dirty="0"/>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2F5F7"/>
                    </a:solidFill>
                  </a:tcPr>
                </a:tc>
                <a:tc>
                  <a:txBody>
                    <a:bodyPr/>
                    <a:lstStyle/>
                    <a:p>
                      <a:pPr algn="ctr" indent="0" marL="0">
                        <a:buNone/>
                      </a:pPr>
                      <a:r>
                        <a:rPr lang="en-US" sz="1400" dirty="0">
                          <a:solidFill>
                            <a:srgbClr val="1B2B3A"/>
                          </a:solidFill>
                        </a:rPr>
                        <a:t>0</a:t>
                      </a:r>
                      <a:endParaRPr lang="en-US" sz="1400" dirty="0"/>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2F5F7"/>
                    </a:solidFill>
                  </a:tcPr>
                </a:tc>
                <a:tc>
                  <a:txBody>
                    <a:bodyPr/>
                    <a:lstStyle/>
                    <a:p>
                      <a:pPr algn="ctr" indent="0" marL="0">
                        <a:buNone/>
                      </a:pPr>
                      <a:r>
                        <a:rPr lang="en-US" sz="1400" dirty="0">
                          <a:solidFill>
                            <a:srgbClr val="1B2B3A"/>
                          </a:solidFill>
                        </a:rPr>
                        <a:t>0</a:t>
                      </a:r>
                      <a:endParaRPr lang="en-US" sz="1400" dirty="0"/>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2F5F7"/>
                    </a:solidFill>
                  </a:tcPr>
                </a:tc>
                <a:tc>
                  <a:txBody>
                    <a:bodyPr/>
                    <a:lstStyle/>
                    <a:p>
                      <a:pPr algn="ctr" indent="0" marL="0">
                        <a:buNone/>
                      </a:pPr>
                      <a:r>
                        <a:rPr lang="en-US" sz="1400" dirty="0">
                          <a:solidFill>
                            <a:srgbClr val="1B2B3A"/>
                          </a:solidFill>
                        </a:rPr>
                        <a:t>0</a:t>
                      </a:r>
                      <a:endParaRPr lang="en-US" sz="1400" dirty="0"/>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2F5F7"/>
                    </a:solidFill>
                  </a:tcPr>
                </a:tc>
              </a:tr>
              <a:tr h="365760">
                <a:tc>
                  <a:txBody>
                    <a:bodyPr/>
                    <a:lstStyle/>
                    <a:p>
                      <a:pPr algn="ctr" indent="0" marL="0">
                        <a:buNone/>
                      </a:pPr>
                      <a:r>
                        <a:rPr lang="en-US" sz="1400" b="1" dirty="0">
                          <a:solidFill>
                            <a:srgbClr val="FFFFFF"/>
                          </a:solidFill>
                        </a:rPr>
                        <a:t>A</a:t>
                      </a:r>
                      <a:endParaRPr lang="en-US" sz="1400" dirty="0"/>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12263A"/>
                    </a:solidFill>
                  </a:tcPr>
                </a:tc>
                <a:tc>
                  <a:txBody>
                    <a:bodyPr/>
                    <a:lstStyle/>
                    <a:p>
                      <a:pPr algn="ctr" indent="0" marL="0">
                        <a:buNone/>
                      </a:pPr>
                      <a:r>
                        <a:rPr lang="en-US" sz="1400" dirty="0">
                          <a:solidFill>
                            <a:srgbClr val="1B2B3A"/>
                          </a:solidFill>
                        </a:rPr>
                        <a:t>0</a:t>
                      </a:r>
                      <a:endParaRPr lang="en-US" sz="1400" dirty="0"/>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2F5F7"/>
                    </a:solidFill>
                  </a:tcPr>
                </a:tc>
                <a:tc>
                  <a:txBody>
                    <a:bodyPr/>
                    <a:lstStyle/>
                    <a:p>
                      <a:pPr algn="ctr" indent="0" marL="0">
                        <a:buNone/>
                      </a:pPr>
                      <a:r>
                        <a:rPr lang="en-US" sz="1400" dirty="0">
                          <a:solidFill>
                            <a:srgbClr val="1B2B3A"/>
                          </a:solidFill>
                        </a:rPr>
                        <a:t>0</a:t>
                      </a:r>
                      <a:endParaRPr lang="en-US" sz="1400" dirty="0"/>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6F3F3"/>
                    </a:solidFill>
                  </a:tcPr>
                </a:tc>
                <a:tc>
                  <a:txBody>
                    <a:bodyPr/>
                    <a:lstStyle/>
                    <a:p>
                      <a:pPr algn="ctr" indent="0" marL="0">
                        <a:buNone/>
                      </a:pPr>
                      <a:r>
                        <a:rPr lang="en-US" sz="1400" dirty="0">
                          <a:solidFill>
                            <a:srgbClr val="1B2B3A"/>
                          </a:solidFill>
                        </a:rPr>
                        <a:t>0</a:t>
                      </a:r>
                      <a:endParaRPr lang="en-US" sz="1400" dirty="0"/>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6F3F3"/>
                    </a:solidFill>
                  </a:tcPr>
                </a:tc>
                <a:tc>
                  <a:txBody>
                    <a:bodyPr/>
                    <a:lstStyle/>
                    <a:p>
                      <a:pPr algn="ctr" indent="0" marL="0">
                        <a:buNone/>
                      </a:pPr>
                      <a:r>
                        <a:rPr lang="en-US" sz="1400" dirty="0">
                          <a:solidFill>
                            <a:srgbClr val="1B2B3A"/>
                          </a:solidFill>
                        </a:rPr>
                        <a:t>0</a:t>
                      </a:r>
                      <a:endParaRPr lang="en-US" sz="1400" dirty="0"/>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6F3F3"/>
                    </a:solidFill>
                  </a:tcPr>
                </a:tc>
                <a:tc>
                  <a:txBody>
                    <a:bodyPr/>
                    <a:lstStyle/>
                    <a:p>
                      <a:pPr algn="ctr" indent="0" marL="0">
                        <a:buNone/>
                      </a:pPr>
                      <a:r>
                        <a:rPr lang="en-US" sz="1400" dirty="0">
                          <a:solidFill>
                            <a:srgbClr val="1B2B3A"/>
                          </a:solidFill>
                        </a:rPr>
                        <a:t>1</a:t>
                      </a:r>
                      <a:endParaRPr lang="en-US" sz="1400" dirty="0"/>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6F3F3"/>
                    </a:solidFill>
                  </a:tcPr>
                </a:tc>
                <a:tc>
                  <a:txBody>
                    <a:bodyPr/>
                    <a:lstStyle/>
                    <a:p>
                      <a:pPr algn="ctr" indent="0" marL="0">
                        <a:buNone/>
                      </a:pPr>
                      <a:r>
                        <a:rPr lang="en-US" sz="1400" dirty="0">
                          <a:solidFill>
                            <a:srgbClr val="1B2B3A"/>
                          </a:solidFill>
                        </a:rPr>
                        <a:t>1</a:t>
                      </a:r>
                      <a:endParaRPr lang="en-US" sz="1400" dirty="0"/>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6F3F3"/>
                    </a:solidFill>
                  </a:tcPr>
                </a:tc>
              </a:tr>
              <a:tr h="365760">
                <a:tc>
                  <a:txBody>
                    <a:bodyPr/>
                    <a:lstStyle/>
                    <a:p>
                      <a:pPr algn="ctr" indent="0" marL="0">
                        <a:buNone/>
                      </a:pPr>
                      <a:r>
                        <a:rPr lang="en-US" sz="1400" b="1" dirty="0">
                          <a:solidFill>
                            <a:srgbClr val="FFFFFF"/>
                          </a:solidFill>
                        </a:rPr>
                        <a:t>B</a:t>
                      </a:r>
                      <a:endParaRPr lang="en-US" sz="1400" dirty="0"/>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12263A"/>
                    </a:solidFill>
                  </a:tcPr>
                </a:tc>
                <a:tc>
                  <a:txBody>
                    <a:bodyPr/>
                    <a:lstStyle/>
                    <a:p>
                      <a:pPr algn="ctr" indent="0" marL="0">
                        <a:buNone/>
                      </a:pPr>
                      <a:r>
                        <a:rPr lang="en-US" sz="1400" dirty="0">
                          <a:solidFill>
                            <a:srgbClr val="1B2B3A"/>
                          </a:solidFill>
                        </a:rPr>
                        <a:t>0</a:t>
                      </a:r>
                      <a:endParaRPr lang="en-US" sz="1400" dirty="0"/>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2F5F7"/>
                    </a:solidFill>
                  </a:tcPr>
                </a:tc>
                <a:tc>
                  <a:txBody>
                    <a:bodyPr/>
                    <a:lstStyle/>
                    <a:p>
                      <a:pPr algn="ctr" indent="0" marL="0">
                        <a:buNone/>
                      </a:pPr>
                      <a:r>
                        <a:rPr lang="en-US" sz="1400" b="1" dirty="0">
                          <a:solidFill>
                            <a:srgbClr val="1B2B3A"/>
                          </a:solidFill>
                        </a:rPr>
                        <a:t>1</a:t>
                      </a:r>
                      <a:endParaRPr lang="en-US" sz="1400" dirty="0"/>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2A33A"/>
                    </a:solidFill>
                  </a:tcPr>
                </a:tc>
                <a:tc>
                  <a:txBody>
                    <a:bodyPr/>
                    <a:lstStyle/>
                    <a:p>
                      <a:pPr algn="ctr" indent="0" marL="0">
                        <a:buNone/>
                      </a:pPr>
                      <a:r>
                        <a:rPr lang="en-US" sz="1400" dirty="0">
                          <a:solidFill>
                            <a:srgbClr val="1B2B3A"/>
                          </a:solidFill>
                        </a:rPr>
                        <a:t>1</a:t>
                      </a:r>
                      <a:endParaRPr lang="en-US" sz="1400" dirty="0"/>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BD9A0"/>
                    </a:solidFill>
                  </a:tcPr>
                </a:tc>
                <a:tc>
                  <a:txBody>
                    <a:bodyPr/>
                    <a:lstStyle/>
                    <a:p>
                      <a:pPr algn="ctr" indent="0" marL="0">
                        <a:buNone/>
                      </a:pPr>
                      <a:r>
                        <a:rPr lang="en-US" sz="1400" dirty="0">
                          <a:solidFill>
                            <a:srgbClr val="1B2B3A"/>
                          </a:solidFill>
                        </a:rPr>
                        <a:t>1</a:t>
                      </a:r>
                      <a:endParaRPr lang="en-US" sz="1400" dirty="0"/>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6F3F3"/>
                    </a:solidFill>
                  </a:tcPr>
                </a:tc>
                <a:tc>
                  <a:txBody>
                    <a:bodyPr/>
                    <a:lstStyle/>
                    <a:p>
                      <a:pPr algn="ctr" indent="0" marL="0">
                        <a:buNone/>
                      </a:pPr>
                      <a:r>
                        <a:rPr lang="en-US" sz="1400" dirty="0">
                          <a:solidFill>
                            <a:srgbClr val="1B2B3A"/>
                          </a:solidFill>
                        </a:rPr>
                        <a:t>1</a:t>
                      </a:r>
                      <a:endParaRPr lang="en-US" sz="1400" dirty="0"/>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6F3F3"/>
                    </a:solidFill>
                  </a:tcPr>
                </a:tc>
                <a:tc>
                  <a:txBody>
                    <a:bodyPr/>
                    <a:lstStyle/>
                    <a:p>
                      <a:pPr algn="ctr" indent="0" marL="0">
                        <a:buNone/>
                      </a:pPr>
                      <a:r>
                        <a:rPr lang="en-US" sz="1400" dirty="0">
                          <a:solidFill>
                            <a:srgbClr val="1B2B3A"/>
                          </a:solidFill>
                        </a:rPr>
                        <a:t>2</a:t>
                      </a:r>
                      <a:endParaRPr lang="en-US" sz="1400" dirty="0"/>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6F3F3"/>
                    </a:solidFill>
                  </a:tcPr>
                </a:tc>
              </a:tr>
              <a:tr h="365760">
                <a:tc>
                  <a:txBody>
                    <a:bodyPr/>
                    <a:lstStyle/>
                    <a:p>
                      <a:pPr algn="ctr" indent="0" marL="0">
                        <a:buNone/>
                      </a:pPr>
                      <a:r>
                        <a:rPr lang="en-US" sz="1400" b="1" dirty="0">
                          <a:solidFill>
                            <a:srgbClr val="FFFFFF"/>
                          </a:solidFill>
                        </a:rPr>
                        <a:t>C</a:t>
                      </a:r>
                      <a:endParaRPr lang="en-US" sz="1400" dirty="0"/>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12263A"/>
                    </a:solidFill>
                  </a:tcPr>
                </a:tc>
                <a:tc>
                  <a:txBody>
                    <a:bodyPr/>
                    <a:lstStyle/>
                    <a:p>
                      <a:pPr algn="ctr" indent="0" marL="0">
                        <a:buNone/>
                      </a:pPr>
                      <a:r>
                        <a:rPr lang="en-US" sz="1400" dirty="0">
                          <a:solidFill>
                            <a:srgbClr val="1B2B3A"/>
                          </a:solidFill>
                        </a:rPr>
                        <a:t>0</a:t>
                      </a:r>
                      <a:endParaRPr lang="en-US" sz="1400" dirty="0"/>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2F5F7"/>
                    </a:solidFill>
                  </a:tcPr>
                </a:tc>
                <a:tc>
                  <a:txBody>
                    <a:bodyPr/>
                    <a:lstStyle/>
                    <a:p>
                      <a:pPr algn="ctr" indent="0" marL="0">
                        <a:buNone/>
                      </a:pPr>
                      <a:r>
                        <a:rPr lang="en-US" sz="1400" dirty="0">
                          <a:solidFill>
                            <a:srgbClr val="1B2B3A"/>
                          </a:solidFill>
                        </a:rPr>
                        <a:t>1</a:t>
                      </a:r>
                      <a:endParaRPr lang="en-US" sz="1400" dirty="0"/>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6F3F3"/>
                    </a:solidFill>
                  </a:tcPr>
                </a:tc>
                <a:tc>
                  <a:txBody>
                    <a:bodyPr/>
                    <a:lstStyle/>
                    <a:p>
                      <a:pPr algn="ctr" indent="0" marL="0">
                        <a:buNone/>
                      </a:pPr>
                      <a:r>
                        <a:rPr lang="en-US" sz="1400" dirty="0">
                          <a:solidFill>
                            <a:srgbClr val="1B2B3A"/>
                          </a:solidFill>
                        </a:rPr>
                        <a:t>1</a:t>
                      </a:r>
                      <a:endParaRPr lang="en-US" sz="1400" dirty="0"/>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6F3F3"/>
                    </a:solidFill>
                  </a:tcPr>
                </a:tc>
                <a:tc>
                  <a:txBody>
                    <a:bodyPr/>
                    <a:lstStyle/>
                    <a:p>
                      <a:pPr algn="ctr" indent="0" marL="0">
                        <a:buNone/>
                      </a:pPr>
                      <a:r>
                        <a:rPr lang="en-US" sz="1400" b="1" dirty="0">
                          <a:solidFill>
                            <a:srgbClr val="1B2B3A"/>
                          </a:solidFill>
                        </a:rPr>
                        <a:t>2</a:t>
                      </a:r>
                      <a:endParaRPr lang="en-US" sz="1400" dirty="0"/>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2A33A"/>
                    </a:solidFill>
                  </a:tcPr>
                </a:tc>
                <a:tc>
                  <a:txBody>
                    <a:bodyPr/>
                    <a:lstStyle/>
                    <a:p>
                      <a:pPr algn="ctr" indent="0" marL="0">
                        <a:buNone/>
                      </a:pPr>
                      <a:r>
                        <a:rPr lang="en-US" sz="1400" dirty="0">
                          <a:solidFill>
                            <a:srgbClr val="1B2B3A"/>
                          </a:solidFill>
                        </a:rPr>
                        <a:t>2</a:t>
                      </a:r>
                      <a:endParaRPr lang="en-US" sz="1400" dirty="0"/>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6F3F3"/>
                    </a:solidFill>
                  </a:tcPr>
                </a:tc>
                <a:tc>
                  <a:txBody>
                    <a:bodyPr/>
                    <a:lstStyle/>
                    <a:p>
                      <a:pPr algn="ctr" indent="0" marL="0">
                        <a:buNone/>
                      </a:pPr>
                      <a:r>
                        <a:rPr lang="en-US" sz="1400" dirty="0">
                          <a:solidFill>
                            <a:srgbClr val="1B2B3A"/>
                          </a:solidFill>
                        </a:rPr>
                        <a:t>2</a:t>
                      </a:r>
                      <a:endParaRPr lang="en-US" sz="1400" dirty="0"/>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6F3F3"/>
                    </a:solidFill>
                  </a:tcPr>
                </a:tc>
              </a:tr>
              <a:tr h="365760">
                <a:tc>
                  <a:txBody>
                    <a:bodyPr/>
                    <a:lstStyle/>
                    <a:p>
                      <a:pPr algn="ctr" indent="0" marL="0">
                        <a:buNone/>
                      </a:pPr>
                      <a:r>
                        <a:rPr lang="en-US" sz="1400" b="1" dirty="0">
                          <a:solidFill>
                            <a:srgbClr val="FFFFFF"/>
                          </a:solidFill>
                        </a:rPr>
                        <a:t>B</a:t>
                      </a:r>
                      <a:endParaRPr lang="en-US" sz="1400" dirty="0"/>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12263A"/>
                    </a:solidFill>
                  </a:tcPr>
                </a:tc>
                <a:tc>
                  <a:txBody>
                    <a:bodyPr/>
                    <a:lstStyle/>
                    <a:p>
                      <a:pPr algn="ctr" indent="0" marL="0">
                        <a:buNone/>
                      </a:pPr>
                      <a:r>
                        <a:rPr lang="en-US" sz="1400" dirty="0">
                          <a:solidFill>
                            <a:srgbClr val="1B2B3A"/>
                          </a:solidFill>
                        </a:rPr>
                        <a:t>0</a:t>
                      </a:r>
                      <a:endParaRPr lang="en-US" sz="1400" dirty="0"/>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2F5F7"/>
                    </a:solidFill>
                  </a:tcPr>
                </a:tc>
                <a:tc>
                  <a:txBody>
                    <a:bodyPr/>
                    <a:lstStyle/>
                    <a:p>
                      <a:pPr algn="ctr" indent="0" marL="0">
                        <a:buNone/>
                      </a:pPr>
                      <a:r>
                        <a:rPr lang="en-US" sz="1400" dirty="0">
                          <a:solidFill>
                            <a:srgbClr val="1B2B3A"/>
                          </a:solidFill>
                        </a:rPr>
                        <a:t>1</a:t>
                      </a:r>
                      <a:endParaRPr lang="en-US" sz="1400" dirty="0"/>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6F3F3"/>
                    </a:solidFill>
                  </a:tcPr>
                </a:tc>
                <a:tc>
                  <a:txBody>
                    <a:bodyPr/>
                    <a:lstStyle/>
                    <a:p>
                      <a:pPr algn="ctr" indent="0" marL="0">
                        <a:buNone/>
                      </a:pPr>
                      <a:r>
                        <a:rPr lang="en-US" sz="1400" dirty="0">
                          <a:solidFill>
                            <a:srgbClr val="1B2B3A"/>
                          </a:solidFill>
                        </a:rPr>
                        <a:t>1</a:t>
                      </a:r>
                      <a:endParaRPr lang="en-US" sz="1400" dirty="0"/>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6F3F3"/>
                    </a:solidFill>
                  </a:tcPr>
                </a:tc>
                <a:tc>
                  <a:txBody>
                    <a:bodyPr/>
                    <a:lstStyle/>
                    <a:p>
                      <a:pPr algn="ctr" indent="0" marL="0">
                        <a:buNone/>
                      </a:pPr>
                      <a:r>
                        <a:rPr lang="en-US" sz="1400" dirty="0">
                          <a:solidFill>
                            <a:srgbClr val="1B2B3A"/>
                          </a:solidFill>
                        </a:rPr>
                        <a:t>2</a:t>
                      </a:r>
                      <a:endParaRPr lang="en-US" sz="1400" dirty="0"/>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BD9A0"/>
                    </a:solidFill>
                  </a:tcPr>
                </a:tc>
                <a:tc>
                  <a:txBody>
                    <a:bodyPr/>
                    <a:lstStyle/>
                    <a:p>
                      <a:pPr algn="ctr" indent="0" marL="0">
                        <a:buNone/>
                      </a:pPr>
                      <a:r>
                        <a:rPr lang="en-US" sz="1400" dirty="0">
                          <a:solidFill>
                            <a:srgbClr val="1B2B3A"/>
                          </a:solidFill>
                        </a:rPr>
                        <a:t>2</a:t>
                      </a:r>
                      <a:endParaRPr lang="en-US" sz="1400" dirty="0"/>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6F3F3"/>
                    </a:solidFill>
                  </a:tcPr>
                </a:tc>
                <a:tc>
                  <a:txBody>
                    <a:bodyPr/>
                    <a:lstStyle/>
                    <a:p>
                      <a:pPr algn="ctr" indent="0" marL="0">
                        <a:buNone/>
                      </a:pPr>
                      <a:r>
                        <a:rPr lang="en-US" sz="1400" dirty="0">
                          <a:solidFill>
                            <a:srgbClr val="1B2B3A"/>
                          </a:solidFill>
                        </a:rPr>
                        <a:t>3</a:t>
                      </a:r>
                      <a:endParaRPr lang="en-US" sz="1400" dirty="0"/>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6F3F3"/>
                    </a:solidFill>
                  </a:tcPr>
                </a:tc>
              </a:tr>
              <a:tr h="365760">
                <a:tc>
                  <a:txBody>
                    <a:bodyPr/>
                    <a:lstStyle/>
                    <a:p>
                      <a:pPr algn="ctr" indent="0" marL="0">
                        <a:buNone/>
                      </a:pPr>
                      <a:r>
                        <a:rPr lang="en-US" sz="1400" b="1" dirty="0">
                          <a:solidFill>
                            <a:srgbClr val="FFFFFF"/>
                          </a:solidFill>
                        </a:rPr>
                        <a:t>D</a:t>
                      </a:r>
                      <a:endParaRPr lang="en-US" sz="1400" dirty="0"/>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12263A"/>
                    </a:solidFill>
                  </a:tcPr>
                </a:tc>
                <a:tc>
                  <a:txBody>
                    <a:bodyPr/>
                    <a:lstStyle/>
                    <a:p>
                      <a:pPr algn="ctr" indent="0" marL="0">
                        <a:buNone/>
                      </a:pPr>
                      <a:r>
                        <a:rPr lang="en-US" sz="1400" dirty="0">
                          <a:solidFill>
                            <a:srgbClr val="1B2B3A"/>
                          </a:solidFill>
                        </a:rPr>
                        <a:t>0</a:t>
                      </a:r>
                      <a:endParaRPr lang="en-US" sz="1400" dirty="0"/>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2F5F7"/>
                    </a:solidFill>
                  </a:tcPr>
                </a:tc>
                <a:tc>
                  <a:txBody>
                    <a:bodyPr/>
                    <a:lstStyle/>
                    <a:p>
                      <a:pPr algn="ctr" indent="0" marL="0">
                        <a:buNone/>
                      </a:pPr>
                      <a:r>
                        <a:rPr lang="en-US" sz="1400" dirty="0">
                          <a:solidFill>
                            <a:srgbClr val="1B2B3A"/>
                          </a:solidFill>
                        </a:rPr>
                        <a:t>1</a:t>
                      </a:r>
                      <a:endParaRPr lang="en-US" sz="1400" dirty="0"/>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6F3F3"/>
                    </a:solidFill>
                  </a:tcPr>
                </a:tc>
                <a:tc>
                  <a:txBody>
                    <a:bodyPr/>
                    <a:lstStyle/>
                    <a:p>
                      <a:pPr algn="ctr" indent="0" marL="0">
                        <a:buNone/>
                      </a:pPr>
                      <a:r>
                        <a:rPr lang="en-US" sz="1400" dirty="0">
                          <a:solidFill>
                            <a:srgbClr val="1B2B3A"/>
                          </a:solidFill>
                        </a:rPr>
                        <a:t>2</a:t>
                      </a:r>
                      <a:endParaRPr lang="en-US" sz="1400" dirty="0"/>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6F3F3"/>
                    </a:solidFill>
                  </a:tcPr>
                </a:tc>
                <a:tc>
                  <a:txBody>
                    <a:bodyPr/>
                    <a:lstStyle/>
                    <a:p>
                      <a:pPr algn="ctr" indent="0" marL="0">
                        <a:buNone/>
                      </a:pPr>
                      <a:r>
                        <a:rPr lang="en-US" sz="1400" dirty="0">
                          <a:solidFill>
                            <a:srgbClr val="1B2B3A"/>
                          </a:solidFill>
                        </a:rPr>
                        <a:t>2</a:t>
                      </a:r>
                      <a:endParaRPr lang="en-US" sz="1400" dirty="0"/>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BD9A0"/>
                    </a:solidFill>
                  </a:tcPr>
                </a:tc>
                <a:tc>
                  <a:txBody>
                    <a:bodyPr/>
                    <a:lstStyle/>
                    <a:p>
                      <a:pPr algn="ctr" indent="0" marL="0">
                        <a:buNone/>
                      </a:pPr>
                      <a:r>
                        <a:rPr lang="en-US" sz="1400" dirty="0">
                          <a:solidFill>
                            <a:srgbClr val="1B2B3A"/>
                          </a:solidFill>
                        </a:rPr>
                        <a:t>2</a:t>
                      </a:r>
                      <a:endParaRPr lang="en-US" sz="1400" dirty="0"/>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6F3F3"/>
                    </a:solidFill>
                  </a:tcPr>
                </a:tc>
                <a:tc>
                  <a:txBody>
                    <a:bodyPr/>
                    <a:lstStyle/>
                    <a:p>
                      <a:pPr algn="ctr" indent="0" marL="0">
                        <a:buNone/>
                      </a:pPr>
                      <a:r>
                        <a:rPr lang="en-US" sz="1400" dirty="0">
                          <a:solidFill>
                            <a:srgbClr val="1B2B3A"/>
                          </a:solidFill>
                        </a:rPr>
                        <a:t>3</a:t>
                      </a:r>
                      <a:endParaRPr lang="en-US" sz="1400" dirty="0"/>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6F3F3"/>
                    </a:solidFill>
                  </a:tcPr>
                </a:tc>
              </a:tr>
              <a:tr h="365760">
                <a:tc>
                  <a:txBody>
                    <a:bodyPr/>
                    <a:lstStyle/>
                    <a:p>
                      <a:pPr algn="ctr" indent="0" marL="0">
                        <a:buNone/>
                      </a:pPr>
                      <a:r>
                        <a:rPr lang="en-US" sz="1400" b="1" dirty="0">
                          <a:solidFill>
                            <a:srgbClr val="FFFFFF"/>
                          </a:solidFill>
                        </a:rPr>
                        <a:t>A</a:t>
                      </a:r>
                      <a:endParaRPr lang="en-US" sz="1400" dirty="0"/>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12263A"/>
                    </a:solidFill>
                  </a:tcPr>
                </a:tc>
                <a:tc>
                  <a:txBody>
                    <a:bodyPr/>
                    <a:lstStyle/>
                    <a:p>
                      <a:pPr algn="ctr" indent="0" marL="0">
                        <a:buNone/>
                      </a:pPr>
                      <a:r>
                        <a:rPr lang="en-US" sz="1400" dirty="0">
                          <a:solidFill>
                            <a:srgbClr val="1B2B3A"/>
                          </a:solidFill>
                        </a:rPr>
                        <a:t>0</a:t>
                      </a:r>
                      <a:endParaRPr lang="en-US" sz="1400" dirty="0"/>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2F5F7"/>
                    </a:solidFill>
                  </a:tcPr>
                </a:tc>
                <a:tc>
                  <a:txBody>
                    <a:bodyPr/>
                    <a:lstStyle/>
                    <a:p>
                      <a:pPr algn="ctr" indent="0" marL="0">
                        <a:buNone/>
                      </a:pPr>
                      <a:r>
                        <a:rPr lang="en-US" sz="1400" dirty="0">
                          <a:solidFill>
                            <a:srgbClr val="1B2B3A"/>
                          </a:solidFill>
                        </a:rPr>
                        <a:t>1</a:t>
                      </a:r>
                      <a:endParaRPr lang="en-US" sz="1400" dirty="0"/>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6F3F3"/>
                    </a:solidFill>
                  </a:tcPr>
                </a:tc>
                <a:tc>
                  <a:txBody>
                    <a:bodyPr/>
                    <a:lstStyle/>
                    <a:p>
                      <a:pPr algn="ctr" indent="0" marL="0">
                        <a:buNone/>
                      </a:pPr>
                      <a:r>
                        <a:rPr lang="en-US" sz="1400" dirty="0">
                          <a:solidFill>
                            <a:srgbClr val="1B2B3A"/>
                          </a:solidFill>
                        </a:rPr>
                        <a:t>2</a:t>
                      </a:r>
                      <a:endParaRPr lang="en-US" sz="1400" dirty="0"/>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6F3F3"/>
                    </a:solidFill>
                  </a:tcPr>
                </a:tc>
                <a:tc>
                  <a:txBody>
                    <a:bodyPr/>
                    <a:lstStyle/>
                    <a:p>
                      <a:pPr algn="ctr" indent="0" marL="0">
                        <a:buNone/>
                      </a:pPr>
                      <a:r>
                        <a:rPr lang="en-US" sz="1400" dirty="0">
                          <a:solidFill>
                            <a:srgbClr val="1B2B3A"/>
                          </a:solidFill>
                        </a:rPr>
                        <a:t>2</a:t>
                      </a:r>
                      <a:endParaRPr lang="en-US" sz="1400" dirty="0"/>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6F3F3"/>
                    </a:solidFill>
                  </a:tcPr>
                </a:tc>
                <a:tc>
                  <a:txBody>
                    <a:bodyPr/>
                    <a:lstStyle/>
                    <a:p>
                      <a:pPr algn="ctr" indent="0" marL="0">
                        <a:buNone/>
                      </a:pPr>
                      <a:r>
                        <a:rPr lang="en-US" sz="1400" b="1" dirty="0">
                          <a:solidFill>
                            <a:srgbClr val="1B2B3A"/>
                          </a:solidFill>
                        </a:rPr>
                        <a:t>3</a:t>
                      </a:r>
                      <a:endParaRPr lang="en-US" sz="1400" dirty="0"/>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2A33A"/>
                    </a:solidFill>
                  </a:tcPr>
                </a:tc>
                <a:tc>
                  <a:txBody>
                    <a:bodyPr/>
                    <a:lstStyle/>
                    <a:p>
                      <a:pPr algn="ctr" indent="0" marL="0">
                        <a:buNone/>
                      </a:pPr>
                      <a:r>
                        <a:rPr lang="en-US" sz="1400" dirty="0">
                          <a:solidFill>
                            <a:srgbClr val="1B2B3A"/>
                          </a:solidFill>
                        </a:rPr>
                        <a:t>3</a:t>
                      </a:r>
                      <a:endParaRPr lang="en-US" sz="1400" dirty="0"/>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6F3F3"/>
                    </a:solidFill>
                  </a:tcPr>
                </a:tc>
              </a:tr>
              <a:tr h="365760">
                <a:tc>
                  <a:txBody>
                    <a:bodyPr/>
                    <a:lstStyle/>
                    <a:p>
                      <a:pPr algn="ctr" indent="0" marL="0">
                        <a:buNone/>
                      </a:pPr>
                      <a:r>
                        <a:rPr lang="en-US" sz="1400" b="1" dirty="0">
                          <a:solidFill>
                            <a:srgbClr val="FFFFFF"/>
                          </a:solidFill>
                        </a:rPr>
                        <a:t>B</a:t>
                      </a:r>
                      <a:endParaRPr lang="en-US" sz="1400" dirty="0"/>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12263A"/>
                    </a:solidFill>
                  </a:tcPr>
                </a:tc>
                <a:tc>
                  <a:txBody>
                    <a:bodyPr/>
                    <a:lstStyle/>
                    <a:p>
                      <a:pPr algn="ctr" indent="0" marL="0">
                        <a:buNone/>
                      </a:pPr>
                      <a:r>
                        <a:rPr lang="en-US" sz="1400" dirty="0">
                          <a:solidFill>
                            <a:srgbClr val="1B2B3A"/>
                          </a:solidFill>
                        </a:rPr>
                        <a:t>0</a:t>
                      </a:r>
                      <a:endParaRPr lang="en-US" sz="1400" dirty="0"/>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2F5F7"/>
                    </a:solidFill>
                  </a:tcPr>
                </a:tc>
                <a:tc>
                  <a:txBody>
                    <a:bodyPr/>
                    <a:lstStyle/>
                    <a:p>
                      <a:pPr algn="ctr" indent="0" marL="0">
                        <a:buNone/>
                      </a:pPr>
                      <a:r>
                        <a:rPr lang="en-US" sz="1400" dirty="0">
                          <a:solidFill>
                            <a:srgbClr val="1B2B3A"/>
                          </a:solidFill>
                        </a:rPr>
                        <a:t>1</a:t>
                      </a:r>
                      <a:endParaRPr lang="en-US" sz="1400" dirty="0"/>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6F3F3"/>
                    </a:solidFill>
                  </a:tcPr>
                </a:tc>
                <a:tc>
                  <a:txBody>
                    <a:bodyPr/>
                    <a:lstStyle/>
                    <a:p>
                      <a:pPr algn="ctr" indent="0" marL="0">
                        <a:buNone/>
                      </a:pPr>
                      <a:r>
                        <a:rPr lang="en-US" sz="1400" dirty="0">
                          <a:solidFill>
                            <a:srgbClr val="1B2B3A"/>
                          </a:solidFill>
                        </a:rPr>
                        <a:t>2</a:t>
                      </a:r>
                      <a:endParaRPr lang="en-US" sz="1400" dirty="0"/>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6F3F3"/>
                    </a:solidFill>
                  </a:tcPr>
                </a:tc>
                <a:tc>
                  <a:txBody>
                    <a:bodyPr/>
                    <a:lstStyle/>
                    <a:p>
                      <a:pPr algn="ctr" indent="0" marL="0">
                        <a:buNone/>
                      </a:pPr>
                      <a:r>
                        <a:rPr lang="en-US" sz="1400" dirty="0">
                          <a:solidFill>
                            <a:srgbClr val="1B2B3A"/>
                          </a:solidFill>
                        </a:rPr>
                        <a:t>2</a:t>
                      </a:r>
                      <a:endParaRPr lang="en-US" sz="1400" dirty="0"/>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6F3F3"/>
                    </a:solidFill>
                  </a:tcPr>
                </a:tc>
                <a:tc>
                  <a:txBody>
                    <a:bodyPr/>
                    <a:lstStyle/>
                    <a:p>
                      <a:pPr algn="ctr" indent="0" marL="0">
                        <a:buNone/>
                      </a:pPr>
                      <a:r>
                        <a:rPr lang="en-US" sz="1400" dirty="0">
                          <a:solidFill>
                            <a:srgbClr val="1B2B3A"/>
                          </a:solidFill>
                        </a:rPr>
                        <a:t>3</a:t>
                      </a:r>
                      <a:endParaRPr lang="en-US" sz="1400" dirty="0"/>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6F3F3"/>
                    </a:solidFill>
                  </a:tcPr>
                </a:tc>
                <a:tc>
                  <a:txBody>
                    <a:bodyPr/>
                    <a:lstStyle/>
                    <a:p>
                      <a:pPr algn="ctr" indent="0" marL="0">
                        <a:buNone/>
                      </a:pPr>
                      <a:r>
                        <a:rPr lang="en-US" sz="1400" b="1" dirty="0">
                          <a:solidFill>
                            <a:srgbClr val="1B2B3A"/>
                          </a:solidFill>
                        </a:rPr>
                        <a:t>4</a:t>
                      </a:r>
                      <a:endParaRPr lang="en-US" sz="1400" dirty="0"/>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2A33A"/>
                    </a:solidFill>
                  </a:tcPr>
                </a:tc>
              </a:tr>
            </a:tbl>
          </a:graphicData>
        </a:graphic>
      </p:graphicFrame>
      <p:sp>
        <p:nvSpPr>
          <p:cNvPr id="4" name="Text 1"/>
          <p:cNvSpPr txBox="1"/>
          <p:nvPr/>
        </p:nvSpPr>
        <p:spPr>
          <a:xfrm>
            <a:off x="457200" y="4389120"/>
            <a:ext cx="4023360" cy="274320"/>
          </a:xfrm>
          <a:prstGeom prst="rect">
            <a:avLst/>
          </a:prstGeom>
          <a:noFill/>
          <a:ln/>
        </p:spPr>
        <p:txBody>
          <a:bodyPr wrap="square" lIns="0" tIns="0" rIns="0" bIns="0" rtlCol="0" anchor="t"/>
          <a:lstStyle/>
          <a:p>
            <a:pPr indent="0" marL="0">
              <a:buNone/>
            </a:pPr>
            <a:r>
              <a:rPr lang="en-US" sz="1100" dirty="0">
                <a:solidFill>
                  <a:schemeClr val="accent6"/>
                </a:solidFill>
              </a:rPr>
              <a:t>Rows: prefixes of X     Columns: prefixes of Y</a:t>
            </a:r>
            <a:endParaRPr lang="en-US" sz="1100" dirty="0"/>
          </a:p>
        </p:txBody>
      </p:sp>
      <p:sp>
        <p:nvSpPr>
          <p:cNvPr id="5" name="Shape 2"/>
          <p:cNvSpPr/>
          <p:nvPr/>
        </p:nvSpPr>
        <p:spPr>
          <a:xfrm>
            <a:off x="4754880" y="1051560"/>
            <a:ext cx="3931920" cy="1691640"/>
          </a:xfrm>
          <a:prstGeom prst="roundRect">
            <a:avLst>
              <a:gd name="adj" fmla="val 4324"/>
            </a:avLst>
          </a:prstGeom>
          <a:solidFill>
            <a:schemeClr val="bg2"/>
          </a:solidFill>
          <a:ln w="12700">
            <a:solidFill>
              <a:schemeClr val="bg2"/>
            </a:solidFill>
            <a:prstDash val="solid"/>
          </a:ln>
        </p:spPr>
      </p:sp>
      <p:sp>
        <p:nvSpPr>
          <p:cNvPr id="6" name="Text 3"/>
          <p:cNvSpPr txBox="1"/>
          <p:nvPr/>
        </p:nvSpPr>
        <p:spPr>
          <a:xfrm>
            <a:off x="4937760" y="1170432"/>
            <a:ext cx="3566160" cy="274320"/>
          </a:xfrm>
          <a:prstGeom prst="rect">
            <a:avLst/>
          </a:prstGeom>
          <a:noFill/>
          <a:ln/>
        </p:spPr>
        <p:txBody>
          <a:bodyPr wrap="square" lIns="0" tIns="0" rIns="0" bIns="0" rtlCol="0" anchor="t"/>
          <a:lstStyle/>
          <a:p>
            <a:pPr indent="0" marL="0">
              <a:buNone/>
            </a:pPr>
            <a:r>
              <a:rPr lang="en-US" sz="1400" b="1" dirty="0">
                <a:solidFill>
                  <a:schemeClr val="tx2"/>
                </a:solidFill>
              </a:rPr>
              <a:t>Fill rule for each cell</a:t>
            </a:r>
            <a:endParaRPr lang="en-US" sz="1400" dirty="0"/>
          </a:p>
        </p:txBody>
      </p:sp>
      <p:sp>
        <p:nvSpPr>
          <p:cNvPr id="7" name="Shape 4"/>
          <p:cNvSpPr/>
          <p:nvPr/>
        </p:nvSpPr>
        <p:spPr>
          <a:xfrm>
            <a:off x="4937760" y="1572768"/>
            <a:ext cx="201168" cy="201168"/>
          </a:xfrm>
          <a:prstGeom prst="roundRect">
            <a:avLst>
              <a:gd name="adj" fmla="val 36364"/>
            </a:avLst>
          </a:prstGeom>
          <a:solidFill>
            <a:schemeClr val="accent2"/>
          </a:solidFill>
          <a:ln w="12700">
            <a:solidFill>
              <a:schemeClr val="accent2"/>
            </a:solidFill>
            <a:prstDash val="solid"/>
          </a:ln>
        </p:spPr>
      </p:sp>
      <p:sp>
        <p:nvSpPr>
          <p:cNvPr id="8" name="Text 5"/>
          <p:cNvSpPr txBox="1"/>
          <p:nvPr/>
        </p:nvSpPr>
        <p:spPr>
          <a:xfrm>
            <a:off x="5303520" y="1536192"/>
            <a:ext cx="3200400" cy="274320"/>
          </a:xfrm>
          <a:prstGeom prst="rect">
            <a:avLst/>
          </a:prstGeom>
          <a:noFill/>
          <a:ln/>
        </p:spPr>
        <p:txBody>
          <a:bodyPr wrap="square" lIns="0" tIns="0" rIns="0" bIns="0" rtlCol="0" anchor="ctr"/>
          <a:lstStyle/>
          <a:p>
            <a:pPr indent="0" marL="0">
              <a:buNone/>
            </a:pPr>
            <a:r>
              <a:rPr lang="en-US" sz="1400" dirty="0">
                <a:solidFill>
                  <a:schemeClr val="tx1"/>
                </a:solidFill>
              </a:rPr>
              <a:t>Match: diagonal value + 1</a:t>
            </a:r>
            <a:endParaRPr lang="en-US" sz="1400" dirty="0"/>
          </a:p>
        </p:txBody>
      </p:sp>
      <p:sp>
        <p:nvSpPr>
          <p:cNvPr id="9" name="Shape 6"/>
          <p:cNvSpPr/>
          <p:nvPr/>
        </p:nvSpPr>
        <p:spPr>
          <a:xfrm>
            <a:off x="4937760" y="1938528"/>
            <a:ext cx="201168" cy="201168"/>
          </a:xfrm>
          <a:prstGeom prst="roundRect">
            <a:avLst>
              <a:gd name="adj" fmla="val 36364"/>
            </a:avLst>
          </a:prstGeom>
          <a:solidFill>
            <a:schemeClr val="accent1"/>
          </a:solidFill>
          <a:ln w="12700">
            <a:solidFill>
              <a:schemeClr val="accent1"/>
            </a:solidFill>
            <a:prstDash val="solid"/>
          </a:ln>
        </p:spPr>
      </p:sp>
      <p:sp>
        <p:nvSpPr>
          <p:cNvPr id="10" name="Text 7"/>
          <p:cNvSpPr txBox="1"/>
          <p:nvPr/>
        </p:nvSpPr>
        <p:spPr>
          <a:xfrm>
            <a:off x="5303520" y="1901952"/>
            <a:ext cx="3200400" cy="274320"/>
          </a:xfrm>
          <a:prstGeom prst="rect">
            <a:avLst/>
          </a:prstGeom>
          <a:noFill/>
          <a:ln/>
        </p:spPr>
        <p:txBody>
          <a:bodyPr wrap="square" lIns="0" tIns="0" rIns="0" bIns="0" rtlCol="0" anchor="ctr"/>
          <a:lstStyle/>
          <a:p>
            <a:pPr indent="0" marL="0">
              <a:buNone/>
            </a:pPr>
            <a:r>
              <a:rPr lang="en-US" sz="1400" dirty="0">
                <a:solidFill>
                  <a:schemeClr val="tx1"/>
                </a:solidFill>
              </a:rPr>
              <a:t>Differ: max(top, left)</a:t>
            </a:r>
            <a:endParaRPr lang="en-US" sz="1400" dirty="0"/>
          </a:p>
        </p:txBody>
      </p:sp>
      <p:sp>
        <p:nvSpPr>
          <p:cNvPr id="11" name="Shape 8"/>
          <p:cNvSpPr/>
          <p:nvPr/>
        </p:nvSpPr>
        <p:spPr>
          <a:xfrm>
            <a:off x="4937760" y="2304288"/>
            <a:ext cx="201168" cy="201168"/>
          </a:xfrm>
          <a:prstGeom prst="roundRect">
            <a:avLst>
              <a:gd name="adj" fmla="val 36364"/>
            </a:avLst>
          </a:prstGeom>
          <a:solidFill>
            <a:schemeClr val="accent3"/>
          </a:solidFill>
          <a:ln w="12700">
            <a:solidFill>
              <a:schemeClr val="accent3"/>
            </a:solidFill>
            <a:prstDash val="solid"/>
          </a:ln>
        </p:spPr>
      </p:sp>
      <p:sp>
        <p:nvSpPr>
          <p:cNvPr id="12" name="Text 9"/>
          <p:cNvSpPr txBox="1"/>
          <p:nvPr/>
        </p:nvSpPr>
        <p:spPr>
          <a:xfrm>
            <a:off x="5303520" y="2267712"/>
            <a:ext cx="3200400" cy="274320"/>
          </a:xfrm>
          <a:prstGeom prst="rect">
            <a:avLst/>
          </a:prstGeom>
          <a:noFill/>
          <a:ln/>
        </p:spPr>
        <p:txBody>
          <a:bodyPr wrap="square" lIns="0" tIns="0" rIns="0" bIns="0" rtlCol="0" anchor="ctr"/>
          <a:lstStyle/>
          <a:p>
            <a:pPr indent="0" marL="0">
              <a:buNone/>
            </a:pPr>
            <a:r>
              <a:rPr lang="en-US" sz="1400" dirty="0">
                <a:solidFill>
                  <a:schemeClr val="tx1"/>
                </a:solidFill>
              </a:rPr>
              <a:t>First row &amp; column: 0</a:t>
            </a:r>
            <a:endParaRPr lang="en-US" sz="1400" dirty="0"/>
          </a:p>
        </p:txBody>
      </p:sp>
      <p:sp>
        <p:nvSpPr>
          <p:cNvPr id="13" name="Shape 10"/>
          <p:cNvSpPr/>
          <p:nvPr/>
        </p:nvSpPr>
        <p:spPr>
          <a:xfrm>
            <a:off x="4754880" y="2926080"/>
            <a:ext cx="3931920" cy="1645920"/>
          </a:xfrm>
          <a:prstGeom prst="roundRect">
            <a:avLst>
              <a:gd name="adj" fmla="val 4444"/>
            </a:avLst>
          </a:prstGeom>
          <a:solidFill>
            <a:schemeClr val="tx2"/>
          </a:solidFill>
          <a:ln w="12700">
            <a:solidFill>
              <a:schemeClr val="tx2"/>
            </a:solidFill>
            <a:prstDash val="solid"/>
          </a:ln>
        </p:spPr>
      </p:sp>
      <p:sp>
        <p:nvSpPr>
          <p:cNvPr id="14" name="Text 11"/>
          <p:cNvSpPr txBox="1"/>
          <p:nvPr/>
        </p:nvSpPr>
        <p:spPr>
          <a:xfrm>
            <a:off x="4937760" y="3044952"/>
            <a:ext cx="3566160" cy="274320"/>
          </a:xfrm>
          <a:prstGeom prst="rect">
            <a:avLst/>
          </a:prstGeom>
          <a:noFill/>
          <a:ln/>
        </p:spPr>
        <p:txBody>
          <a:bodyPr wrap="square" lIns="0" tIns="0" rIns="0" bIns="0" rtlCol="0" anchor="t"/>
          <a:lstStyle/>
          <a:p>
            <a:pPr indent="0" marL="0">
              <a:buNone/>
            </a:pPr>
            <a:r>
              <a:rPr lang="en-US" sz="1400" b="1" dirty="0">
                <a:solidFill>
                  <a:schemeClr val="accent2"/>
                </a:solidFill>
              </a:rPr>
              <a:t>Reading the answer</a:t>
            </a:r>
            <a:endParaRPr lang="en-US" sz="1400" dirty="0"/>
          </a:p>
        </p:txBody>
      </p:sp>
      <p:sp>
        <p:nvSpPr>
          <p:cNvPr id="15" name="Text 12"/>
          <p:cNvSpPr txBox="1"/>
          <p:nvPr/>
        </p:nvSpPr>
        <p:spPr>
          <a:xfrm>
            <a:off x="4937760" y="3401568"/>
            <a:ext cx="3566160" cy="109728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bg1"/>
                </a:solidFill>
              </a:rPr>
              <a:t>Bottom-right cell = 4, the LCS length</a:t>
            </a:r>
            <a:endParaRPr lang="en-US" sz="1400" dirty="0"/>
          </a:p>
          <a:p>
            <a:pPr marL="342900" indent="-342900">
              <a:spcAft>
                <a:spcPts val="600"/>
              </a:spcAft>
              <a:buSzPct val="100000"/>
              <a:buChar char="•"/>
            </a:pPr>
            <a:r>
              <a:rPr lang="en-US" sz="1400" dirty="0">
                <a:solidFill>
                  <a:schemeClr val="bg1"/>
                </a:solidFill>
              </a:rPr>
              <a:t>Trace back from it (amber path) to read off BCAB</a:t>
            </a:r>
            <a:endParaRPr lang="en-US" sz="14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7A8CA3"/>
                </a:solidFill>
              </a:defRPr>
            </a:lvl1pPr>
          </a:lstStyle>
          <a:p>
            <a:pPr algn="l"/>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40080"/>
          </a:xfrm>
          <a:prstGeom prst="rect">
            <a:avLst/>
          </a:prstGeom>
          <a:noFill/>
          <a:ln/>
        </p:spPr>
        <p:txBody>
          <a:bodyPr wrap="square" lIns="0" tIns="0" rIns="0" bIns="0" rtlCol="0" anchor="ctr"/>
          <a:lstStyle/>
          <a:p>
            <a:pPr algn="l" indent="0" marL="0">
              <a:buNone/>
            </a:pPr>
            <a:r>
              <a:rPr lang="en-US" sz="3200" b="1" dirty="0">
                <a:solidFill>
                  <a:schemeClr val="tx2"/>
                </a:solidFill>
              </a:rPr>
              <a:t>LCS Algorithm &amp; Traceback</a:t>
            </a:r>
            <a:endParaRPr lang="en-US" sz="3200" dirty="0"/>
          </a:p>
        </p:txBody>
      </p:sp>
      <p:sp>
        <p:nvSpPr>
          <p:cNvPr id="3" name="Shape 1"/>
          <p:cNvSpPr/>
          <p:nvPr/>
        </p:nvSpPr>
        <p:spPr>
          <a:xfrm>
            <a:off x="457200" y="1051560"/>
            <a:ext cx="4846320" cy="2743200"/>
          </a:xfrm>
          <a:prstGeom prst="roundRect">
            <a:avLst>
              <a:gd name="adj" fmla="val 2667"/>
            </a:avLst>
          </a:prstGeom>
          <a:solidFill>
            <a:schemeClr val="tx2"/>
          </a:solidFill>
          <a:ln w="12700">
            <a:solidFill>
              <a:schemeClr val="tx2"/>
            </a:solidFill>
            <a:prstDash val="solid"/>
          </a:ln>
        </p:spPr>
      </p:sp>
      <p:sp>
        <p:nvSpPr>
          <p:cNvPr id="4" name="Text 2"/>
          <p:cNvSpPr txBox="1"/>
          <p:nvPr/>
        </p:nvSpPr>
        <p:spPr>
          <a:xfrm>
            <a:off x="685800" y="1188720"/>
            <a:ext cx="4389120" cy="228600"/>
          </a:xfrm>
          <a:prstGeom prst="rect">
            <a:avLst/>
          </a:prstGeom>
          <a:noFill/>
          <a:ln/>
        </p:spPr>
        <p:txBody>
          <a:bodyPr wrap="square" lIns="0" tIns="0" rIns="0" bIns="0" rtlCol="0" anchor="t"/>
          <a:lstStyle/>
          <a:p>
            <a:pPr indent="0" marL="0">
              <a:buNone/>
            </a:pPr>
            <a:r>
              <a:rPr lang="en-US" sz="1000" b="1" spc="200" kern="0" dirty="0">
                <a:solidFill>
                  <a:schemeClr val="accent2"/>
                </a:solidFill>
              </a:rPr>
              <a:t>PSEUDOCODE</a:t>
            </a:r>
            <a:endParaRPr lang="en-US" sz="1000" dirty="0"/>
          </a:p>
        </p:txBody>
      </p:sp>
      <p:sp>
        <p:nvSpPr>
          <p:cNvPr id="5" name="Text 3"/>
          <p:cNvSpPr txBox="1"/>
          <p:nvPr/>
        </p:nvSpPr>
        <p:spPr>
          <a:xfrm>
            <a:off x="685800" y="1508760"/>
            <a:ext cx="4480560" cy="2194560"/>
          </a:xfrm>
          <a:prstGeom prst="rect">
            <a:avLst/>
          </a:prstGeom>
          <a:noFill/>
          <a:ln/>
        </p:spPr>
        <p:txBody>
          <a:bodyPr wrap="square" lIns="0" tIns="0" rIns="0" bIns="0" rtlCol="0" anchor="t"/>
          <a:lstStyle/>
          <a:p>
            <a:pPr indent="0" marL="0">
              <a:lnSpc>
                <a:spcPct val="110000"/>
              </a:lnSpc>
              <a:buNone/>
            </a:pPr>
            <a:r>
              <a:rPr lang="en-US" sz="1200" dirty="0">
                <a:solidFill>
                  <a:schemeClr val="bg1"/>
                </a:solidFill>
                <a:latin typeface="Courier New" pitchFamily="34" charset="0"/>
                <a:ea typeface="Courier New" pitchFamily="34" charset="-122"/>
                <a:cs typeface="Courier New" pitchFamily="34" charset="-120"/>
              </a:rPr>
              <a:t>create dp[m+1][n+1], filled with 0</a:t>
            </a:r>
            <a:endParaRPr lang="en-US" sz="1200" dirty="0"/>
          </a:p>
          <a:p>
            <a:pPr indent="0" marL="0">
              <a:lnSpc>
                <a:spcPct val="110000"/>
              </a:lnSpc>
              <a:buNone/>
            </a:pPr>
            <a:r>
              <a:rPr lang="en-US" sz="1200" dirty="0">
                <a:solidFill>
                  <a:schemeClr val="bg1"/>
                </a:solidFill>
                <a:latin typeface="Courier New" pitchFamily="34" charset="0"/>
                <a:ea typeface="Courier New" pitchFamily="34" charset="-122"/>
                <a:cs typeface="Courier New" pitchFamily="34" charset="-120"/>
              </a:rPr>
              <a:t>for i = 1 to m:</a:t>
            </a:r>
            <a:endParaRPr lang="en-US" sz="1200" dirty="0"/>
          </a:p>
          <a:p>
            <a:pPr indent="0" marL="0">
              <a:lnSpc>
                <a:spcPct val="110000"/>
              </a:lnSpc>
              <a:buNone/>
            </a:pPr>
            <a:r>
              <a:rPr lang="en-US" sz="1200" dirty="0">
                <a:solidFill>
                  <a:schemeClr val="bg1"/>
                </a:solidFill>
                <a:latin typeface="Courier New" pitchFamily="34" charset="0"/>
                <a:ea typeface="Courier New" pitchFamily="34" charset="-122"/>
                <a:cs typeface="Courier New" pitchFamily="34" charset="-120"/>
              </a:rPr>
              <a:t>  for j = 1 to n:</a:t>
            </a:r>
            <a:endParaRPr lang="en-US" sz="1200" dirty="0"/>
          </a:p>
          <a:p>
            <a:pPr indent="0" marL="0">
              <a:lnSpc>
                <a:spcPct val="110000"/>
              </a:lnSpc>
              <a:buNone/>
            </a:pPr>
            <a:r>
              <a:rPr lang="en-US" sz="1200" dirty="0">
                <a:solidFill>
                  <a:schemeClr val="bg1"/>
                </a:solidFill>
                <a:latin typeface="Courier New" pitchFamily="34" charset="0"/>
                <a:ea typeface="Courier New" pitchFamily="34" charset="-122"/>
                <a:cs typeface="Courier New" pitchFamily="34" charset="-120"/>
              </a:rPr>
              <a:t>    if X[i-1] == Y[j-1]:</a:t>
            </a:r>
            <a:endParaRPr lang="en-US" sz="1200" dirty="0"/>
          </a:p>
          <a:p>
            <a:pPr indent="0" marL="0">
              <a:lnSpc>
                <a:spcPct val="110000"/>
              </a:lnSpc>
              <a:buNone/>
            </a:pPr>
            <a:r>
              <a:rPr lang="en-US" sz="1200" dirty="0">
                <a:solidFill>
                  <a:schemeClr val="bg1"/>
                </a:solidFill>
                <a:latin typeface="Courier New" pitchFamily="34" charset="0"/>
                <a:ea typeface="Courier New" pitchFamily="34" charset="-122"/>
                <a:cs typeface="Courier New" pitchFamily="34" charset="-120"/>
              </a:rPr>
              <a:t>      dp[i][j] = dp[i-1][j-1] + 1</a:t>
            </a:r>
            <a:endParaRPr lang="en-US" sz="1200" dirty="0"/>
          </a:p>
          <a:p>
            <a:pPr indent="0" marL="0">
              <a:lnSpc>
                <a:spcPct val="110000"/>
              </a:lnSpc>
              <a:buNone/>
            </a:pPr>
            <a:r>
              <a:rPr lang="en-US" sz="1200" dirty="0">
                <a:solidFill>
                  <a:schemeClr val="bg1"/>
                </a:solidFill>
                <a:latin typeface="Courier New" pitchFamily="34" charset="0"/>
                <a:ea typeface="Courier New" pitchFamily="34" charset="-122"/>
                <a:cs typeface="Courier New" pitchFamily="34" charset="-120"/>
              </a:rPr>
              <a:t>    else:</a:t>
            </a:r>
            <a:endParaRPr lang="en-US" sz="1200" dirty="0"/>
          </a:p>
          <a:p>
            <a:pPr indent="0" marL="0">
              <a:lnSpc>
                <a:spcPct val="110000"/>
              </a:lnSpc>
              <a:buNone/>
            </a:pPr>
            <a:r>
              <a:rPr lang="en-US" sz="1200" dirty="0">
                <a:solidFill>
                  <a:schemeClr val="bg1"/>
                </a:solidFill>
                <a:latin typeface="Courier New" pitchFamily="34" charset="0"/>
                <a:ea typeface="Courier New" pitchFamily="34" charset="-122"/>
                <a:cs typeface="Courier New" pitchFamily="34" charset="-120"/>
              </a:rPr>
              <a:t>      dp[i][j] = max(dp[i-1][j],</a:t>
            </a:r>
            <a:endParaRPr lang="en-US" sz="1200" dirty="0"/>
          </a:p>
          <a:p>
            <a:pPr indent="0" marL="0">
              <a:lnSpc>
                <a:spcPct val="110000"/>
              </a:lnSpc>
              <a:buNone/>
            </a:pPr>
            <a:r>
              <a:rPr lang="en-US" sz="1200" dirty="0">
                <a:solidFill>
                  <a:schemeClr val="bg1"/>
                </a:solidFill>
                <a:latin typeface="Courier New" pitchFamily="34" charset="0"/>
                <a:ea typeface="Courier New" pitchFamily="34" charset="-122"/>
                <a:cs typeface="Courier New" pitchFamily="34" charset="-120"/>
              </a:rPr>
              <a:t>                     dp[i][j-1])</a:t>
            </a:r>
            <a:endParaRPr lang="en-US" sz="1200" dirty="0"/>
          </a:p>
          <a:p>
            <a:pPr indent="0" marL="0">
              <a:lnSpc>
                <a:spcPct val="110000"/>
              </a:lnSpc>
              <a:buNone/>
            </a:pPr>
            <a:r>
              <a:rPr lang="en-US" sz="1200" dirty="0">
                <a:solidFill>
                  <a:schemeClr val="bg1"/>
                </a:solidFill>
                <a:latin typeface="Courier New" pitchFamily="34" charset="0"/>
                <a:ea typeface="Courier New" pitchFamily="34" charset="-122"/>
                <a:cs typeface="Courier New" pitchFamily="34" charset="-120"/>
              </a:rPr>
              <a:t>return dp[m][n]</a:t>
            </a:r>
            <a:endParaRPr lang="en-US" sz="1200" dirty="0"/>
          </a:p>
        </p:txBody>
      </p:sp>
      <p:sp>
        <p:nvSpPr>
          <p:cNvPr id="6" name="Text 4"/>
          <p:cNvSpPr txBox="1"/>
          <p:nvPr/>
        </p:nvSpPr>
        <p:spPr>
          <a:xfrm>
            <a:off x="457200" y="3931920"/>
            <a:ext cx="4846320" cy="685800"/>
          </a:xfrm>
          <a:prstGeom prst="rect">
            <a:avLst/>
          </a:prstGeom>
          <a:noFill/>
          <a:ln/>
        </p:spPr>
        <p:txBody>
          <a:bodyPr wrap="square" lIns="0" tIns="0" rIns="0" bIns="0" rtlCol="0" anchor="t"/>
          <a:lstStyle/>
          <a:p>
            <a:pPr indent="0" marL="0">
              <a:buNone/>
            </a:pPr>
            <a:r>
              <a:rPr lang="en-US" sz="1300" b="1" dirty="0">
                <a:solidFill>
                  <a:schemeClr val="accent1"/>
                </a:solidFill>
              </a:rPr>
              <a:t>Traceback: </a:t>
            </a:r>
            <a:pPr indent="0" marL="0">
              <a:buNone/>
            </a:pPr>
            <a:r>
              <a:rPr lang="en-US" sz="1300" dirty="0">
                <a:solidFill>
                  <a:schemeClr val="tx1"/>
                </a:solidFill>
              </a:rPr>
              <a:t>start at dp[m][n]. On a match, keep the letter and move diagonally; otherwise move to the larger of top or left.</a:t>
            </a:r>
            <a:endParaRPr lang="en-US" sz="1300" dirty="0"/>
          </a:p>
        </p:txBody>
      </p:sp>
      <p:sp>
        <p:nvSpPr>
          <p:cNvPr id="7" name="Shape 5"/>
          <p:cNvSpPr/>
          <p:nvPr/>
        </p:nvSpPr>
        <p:spPr>
          <a:xfrm>
            <a:off x="5669280" y="1106424"/>
            <a:ext cx="347472" cy="347472"/>
          </a:xfrm>
          <a:prstGeom prst="ellipse">
            <a:avLst/>
          </a:prstGeom>
          <a:solidFill>
            <a:schemeClr val="accent1"/>
          </a:solidFill>
          <a:ln w="12700">
            <a:solidFill>
              <a:schemeClr val="accent1"/>
            </a:solidFill>
            <a:prstDash val="solid"/>
          </a:ln>
        </p:spPr>
      </p:sp>
      <p:sp>
        <p:nvSpPr>
          <p:cNvPr id="8" name="Text 6"/>
          <p:cNvSpPr txBox="1"/>
          <p:nvPr/>
        </p:nvSpPr>
        <p:spPr>
          <a:xfrm>
            <a:off x="5669280" y="1106424"/>
            <a:ext cx="347472" cy="347472"/>
          </a:xfrm>
          <a:prstGeom prst="rect">
            <a:avLst/>
          </a:prstGeom>
          <a:no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9" name="Text 7"/>
          <p:cNvSpPr txBox="1"/>
          <p:nvPr/>
        </p:nvSpPr>
        <p:spPr>
          <a:xfrm>
            <a:off x="6172200" y="1051560"/>
            <a:ext cx="2514600" cy="457200"/>
          </a:xfrm>
          <a:prstGeom prst="rect">
            <a:avLst/>
          </a:prstGeom>
          <a:noFill/>
          <a:ln/>
        </p:spPr>
        <p:txBody>
          <a:bodyPr wrap="square" lIns="0" tIns="0" rIns="0" bIns="0" rtlCol="0" anchor="ctr"/>
          <a:lstStyle/>
          <a:p>
            <a:pPr indent="0" marL="0">
              <a:buNone/>
            </a:pPr>
            <a:r>
              <a:rPr lang="en-US" sz="1400" dirty="0">
                <a:solidFill>
                  <a:schemeClr val="tx1"/>
                </a:solidFill>
              </a:rPr>
              <a:t>Read strings X and Y</a:t>
            </a:r>
            <a:endParaRPr lang="en-US" sz="1400" dirty="0"/>
          </a:p>
        </p:txBody>
      </p:sp>
      <p:sp>
        <p:nvSpPr>
          <p:cNvPr id="10" name="Shape 8"/>
          <p:cNvSpPr/>
          <p:nvPr/>
        </p:nvSpPr>
        <p:spPr>
          <a:xfrm>
            <a:off x="5669280" y="1700784"/>
            <a:ext cx="347472" cy="347472"/>
          </a:xfrm>
          <a:prstGeom prst="ellipse">
            <a:avLst/>
          </a:prstGeom>
          <a:solidFill>
            <a:schemeClr val="accent1"/>
          </a:solidFill>
          <a:ln w="12700">
            <a:solidFill>
              <a:schemeClr val="accent1"/>
            </a:solidFill>
            <a:prstDash val="solid"/>
          </a:ln>
        </p:spPr>
      </p:sp>
      <p:sp>
        <p:nvSpPr>
          <p:cNvPr id="11" name="Text 9"/>
          <p:cNvSpPr txBox="1"/>
          <p:nvPr/>
        </p:nvSpPr>
        <p:spPr>
          <a:xfrm>
            <a:off x="5669280" y="1700784"/>
            <a:ext cx="347472" cy="347472"/>
          </a:xfrm>
          <a:prstGeom prst="rect">
            <a:avLst/>
          </a:prstGeom>
          <a:no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12" name="Text 10"/>
          <p:cNvSpPr txBox="1"/>
          <p:nvPr/>
        </p:nvSpPr>
        <p:spPr>
          <a:xfrm>
            <a:off x="6172200" y="1645920"/>
            <a:ext cx="2514600" cy="457200"/>
          </a:xfrm>
          <a:prstGeom prst="rect">
            <a:avLst/>
          </a:prstGeom>
          <a:noFill/>
          <a:ln/>
        </p:spPr>
        <p:txBody>
          <a:bodyPr wrap="square" lIns="0" tIns="0" rIns="0" bIns="0" rtlCol="0" anchor="ctr"/>
          <a:lstStyle/>
          <a:p>
            <a:pPr indent="0" marL="0">
              <a:buNone/>
            </a:pPr>
            <a:r>
              <a:rPr lang="en-US" sz="1400" dirty="0">
                <a:solidFill>
                  <a:schemeClr val="tx1"/>
                </a:solidFill>
              </a:rPr>
              <a:t>Find their lengths m and n</a:t>
            </a:r>
            <a:endParaRPr lang="en-US" sz="1400" dirty="0"/>
          </a:p>
        </p:txBody>
      </p:sp>
      <p:sp>
        <p:nvSpPr>
          <p:cNvPr id="13" name="Shape 11"/>
          <p:cNvSpPr/>
          <p:nvPr/>
        </p:nvSpPr>
        <p:spPr>
          <a:xfrm>
            <a:off x="5669280" y="2295144"/>
            <a:ext cx="347472" cy="347472"/>
          </a:xfrm>
          <a:prstGeom prst="ellipse">
            <a:avLst/>
          </a:prstGeom>
          <a:solidFill>
            <a:schemeClr val="accent1"/>
          </a:solidFill>
          <a:ln w="12700">
            <a:solidFill>
              <a:schemeClr val="accent1"/>
            </a:solidFill>
            <a:prstDash val="solid"/>
          </a:ln>
        </p:spPr>
      </p:sp>
      <p:sp>
        <p:nvSpPr>
          <p:cNvPr id="14" name="Text 12"/>
          <p:cNvSpPr txBox="1"/>
          <p:nvPr/>
        </p:nvSpPr>
        <p:spPr>
          <a:xfrm>
            <a:off x="5669280" y="2295144"/>
            <a:ext cx="347472" cy="347472"/>
          </a:xfrm>
          <a:prstGeom prst="rect">
            <a:avLst/>
          </a:prstGeom>
          <a:no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15" name="Text 13"/>
          <p:cNvSpPr txBox="1"/>
          <p:nvPr/>
        </p:nvSpPr>
        <p:spPr>
          <a:xfrm>
            <a:off x="6172200" y="2240280"/>
            <a:ext cx="2514600" cy="457200"/>
          </a:xfrm>
          <a:prstGeom prst="rect">
            <a:avLst/>
          </a:prstGeom>
          <a:noFill/>
          <a:ln/>
        </p:spPr>
        <p:txBody>
          <a:bodyPr wrap="square" lIns="0" tIns="0" rIns="0" bIns="0" rtlCol="0" anchor="ctr"/>
          <a:lstStyle/>
          <a:p>
            <a:pPr indent="0" marL="0">
              <a:buNone/>
            </a:pPr>
            <a:r>
              <a:rPr lang="en-US" sz="1400" dirty="0">
                <a:solidFill>
                  <a:schemeClr val="tx1"/>
                </a:solidFill>
              </a:rPr>
              <a:t>Create a (m+1) × (n+1) table</a:t>
            </a:r>
            <a:endParaRPr lang="en-US" sz="1400" dirty="0"/>
          </a:p>
        </p:txBody>
      </p:sp>
      <p:sp>
        <p:nvSpPr>
          <p:cNvPr id="16" name="Shape 14"/>
          <p:cNvSpPr/>
          <p:nvPr/>
        </p:nvSpPr>
        <p:spPr>
          <a:xfrm>
            <a:off x="5669280" y="2889504"/>
            <a:ext cx="347472" cy="347472"/>
          </a:xfrm>
          <a:prstGeom prst="ellipse">
            <a:avLst/>
          </a:prstGeom>
          <a:solidFill>
            <a:schemeClr val="accent1"/>
          </a:solidFill>
          <a:ln w="12700">
            <a:solidFill>
              <a:schemeClr val="accent1"/>
            </a:solidFill>
            <a:prstDash val="solid"/>
          </a:ln>
        </p:spPr>
      </p:sp>
      <p:sp>
        <p:nvSpPr>
          <p:cNvPr id="17" name="Text 15"/>
          <p:cNvSpPr txBox="1"/>
          <p:nvPr/>
        </p:nvSpPr>
        <p:spPr>
          <a:xfrm>
            <a:off x="5669280" y="2889504"/>
            <a:ext cx="347472" cy="347472"/>
          </a:xfrm>
          <a:prstGeom prst="rect">
            <a:avLst/>
          </a:prstGeom>
          <a:noFill/>
          <a:ln/>
        </p:spPr>
        <p:txBody>
          <a:bodyPr wrap="square" lIns="0" tIns="0" rIns="0" bIns="0" rtlCol="0" anchor="ctr"/>
          <a:lstStyle/>
          <a:p>
            <a:pPr algn="ctr" indent="0" marL="0">
              <a:buNone/>
            </a:pPr>
            <a:r>
              <a:rPr lang="en-US" sz="1400" b="1" dirty="0">
                <a:solidFill>
                  <a:schemeClr val="bg1"/>
                </a:solidFill>
              </a:rPr>
              <a:t>4</a:t>
            </a:r>
            <a:endParaRPr lang="en-US" sz="1400" dirty="0"/>
          </a:p>
        </p:txBody>
      </p:sp>
      <p:sp>
        <p:nvSpPr>
          <p:cNvPr id="18" name="Text 16"/>
          <p:cNvSpPr txBox="1"/>
          <p:nvPr/>
        </p:nvSpPr>
        <p:spPr>
          <a:xfrm>
            <a:off x="6172200" y="2834640"/>
            <a:ext cx="2514600" cy="457200"/>
          </a:xfrm>
          <a:prstGeom prst="rect">
            <a:avLst/>
          </a:prstGeom>
          <a:noFill/>
          <a:ln/>
        </p:spPr>
        <p:txBody>
          <a:bodyPr wrap="square" lIns="0" tIns="0" rIns="0" bIns="0" rtlCol="0" anchor="ctr"/>
          <a:lstStyle/>
          <a:p>
            <a:pPr indent="0" marL="0">
              <a:buNone/>
            </a:pPr>
            <a:r>
              <a:rPr lang="en-US" sz="1400" dirty="0">
                <a:solidFill>
                  <a:schemeClr val="tx1"/>
                </a:solidFill>
              </a:rPr>
              <a:t>Set first row and column to 0</a:t>
            </a:r>
            <a:endParaRPr lang="en-US" sz="1400" dirty="0"/>
          </a:p>
        </p:txBody>
      </p:sp>
      <p:sp>
        <p:nvSpPr>
          <p:cNvPr id="19" name="Shape 17"/>
          <p:cNvSpPr/>
          <p:nvPr/>
        </p:nvSpPr>
        <p:spPr>
          <a:xfrm>
            <a:off x="5669280" y="3483864"/>
            <a:ext cx="347472" cy="347472"/>
          </a:xfrm>
          <a:prstGeom prst="ellipse">
            <a:avLst/>
          </a:prstGeom>
          <a:solidFill>
            <a:schemeClr val="accent1"/>
          </a:solidFill>
          <a:ln w="12700">
            <a:solidFill>
              <a:schemeClr val="accent1"/>
            </a:solidFill>
            <a:prstDash val="solid"/>
          </a:ln>
        </p:spPr>
      </p:sp>
      <p:sp>
        <p:nvSpPr>
          <p:cNvPr id="20" name="Text 18"/>
          <p:cNvSpPr txBox="1"/>
          <p:nvPr/>
        </p:nvSpPr>
        <p:spPr>
          <a:xfrm>
            <a:off x="5669280" y="3483864"/>
            <a:ext cx="347472" cy="347472"/>
          </a:xfrm>
          <a:prstGeom prst="rect">
            <a:avLst/>
          </a:prstGeom>
          <a:noFill/>
          <a:ln/>
        </p:spPr>
        <p:txBody>
          <a:bodyPr wrap="square" lIns="0" tIns="0" rIns="0" bIns="0" rtlCol="0" anchor="ctr"/>
          <a:lstStyle/>
          <a:p>
            <a:pPr algn="ctr" indent="0" marL="0">
              <a:buNone/>
            </a:pPr>
            <a:r>
              <a:rPr lang="en-US" sz="1400" b="1" dirty="0">
                <a:solidFill>
                  <a:schemeClr val="bg1"/>
                </a:solidFill>
              </a:rPr>
              <a:t>5</a:t>
            </a:r>
            <a:endParaRPr lang="en-US" sz="1400" dirty="0"/>
          </a:p>
        </p:txBody>
      </p:sp>
      <p:sp>
        <p:nvSpPr>
          <p:cNvPr id="21" name="Text 19"/>
          <p:cNvSpPr txBox="1"/>
          <p:nvPr/>
        </p:nvSpPr>
        <p:spPr>
          <a:xfrm>
            <a:off x="6172200" y="3429000"/>
            <a:ext cx="2514600" cy="457200"/>
          </a:xfrm>
          <a:prstGeom prst="rect">
            <a:avLst/>
          </a:prstGeom>
          <a:noFill/>
          <a:ln/>
        </p:spPr>
        <p:txBody>
          <a:bodyPr wrap="square" lIns="0" tIns="0" rIns="0" bIns="0" rtlCol="0" anchor="ctr"/>
          <a:lstStyle/>
          <a:p>
            <a:pPr indent="0" marL="0">
              <a:buNone/>
            </a:pPr>
            <a:r>
              <a:rPr lang="en-US" sz="1400" dirty="0">
                <a:solidFill>
                  <a:schemeClr val="tx1"/>
                </a:solidFill>
              </a:rPr>
              <a:t>Fill cells with the recurrence</a:t>
            </a:r>
            <a:endParaRPr lang="en-US" sz="1400" dirty="0"/>
          </a:p>
        </p:txBody>
      </p:sp>
      <p:sp>
        <p:nvSpPr>
          <p:cNvPr id="22" name="Shape 20"/>
          <p:cNvSpPr/>
          <p:nvPr/>
        </p:nvSpPr>
        <p:spPr>
          <a:xfrm>
            <a:off x="5669280" y="4078224"/>
            <a:ext cx="347472" cy="347472"/>
          </a:xfrm>
          <a:prstGeom prst="ellipse">
            <a:avLst/>
          </a:prstGeom>
          <a:solidFill>
            <a:schemeClr val="accent1"/>
          </a:solidFill>
          <a:ln w="12700">
            <a:solidFill>
              <a:schemeClr val="accent1"/>
            </a:solidFill>
            <a:prstDash val="solid"/>
          </a:ln>
        </p:spPr>
      </p:sp>
      <p:sp>
        <p:nvSpPr>
          <p:cNvPr id="23" name="Text 21"/>
          <p:cNvSpPr txBox="1"/>
          <p:nvPr/>
        </p:nvSpPr>
        <p:spPr>
          <a:xfrm>
            <a:off x="5669280" y="4078224"/>
            <a:ext cx="347472" cy="347472"/>
          </a:xfrm>
          <a:prstGeom prst="rect">
            <a:avLst/>
          </a:prstGeom>
          <a:noFill/>
          <a:ln/>
        </p:spPr>
        <p:txBody>
          <a:bodyPr wrap="square" lIns="0" tIns="0" rIns="0" bIns="0" rtlCol="0" anchor="ctr"/>
          <a:lstStyle/>
          <a:p>
            <a:pPr algn="ctr" indent="0" marL="0">
              <a:buNone/>
            </a:pPr>
            <a:r>
              <a:rPr lang="en-US" sz="1400" b="1" dirty="0">
                <a:solidFill>
                  <a:schemeClr val="bg1"/>
                </a:solidFill>
              </a:rPr>
              <a:t>6</a:t>
            </a:r>
            <a:endParaRPr lang="en-US" sz="1400" dirty="0"/>
          </a:p>
        </p:txBody>
      </p:sp>
      <p:sp>
        <p:nvSpPr>
          <p:cNvPr id="24" name="Text 22"/>
          <p:cNvSpPr txBox="1"/>
          <p:nvPr/>
        </p:nvSpPr>
        <p:spPr>
          <a:xfrm>
            <a:off x="6172200" y="4023360"/>
            <a:ext cx="2514600" cy="457200"/>
          </a:xfrm>
          <a:prstGeom prst="rect">
            <a:avLst/>
          </a:prstGeom>
          <a:noFill/>
          <a:ln/>
        </p:spPr>
        <p:txBody>
          <a:bodyPr wrap="square" lIns="0" tIns="0" rIns="0" bIns="0" rtlCol="0" anchor="ctr"/>
          <a:lstStyle/>
          <a:p>
            <a:pPr indent="0" marL="0">
              <a:buNone/>
            </a:pPr>
            <a:r>
              <a:rPr lang="en-US" sz="1400" dirty="0">
                <a:solidFill>
                  <a:schemeClr val="tx1"/>
                </a:solidFill>
              </a:rPr>
              <a:t>Return dp[m][n] as LCS length</a:t>
            </a:r>
            <a:endParaRPr lang="en-US" sz="14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7A8CA3"/>
                </a:solidFill>
              </a:defRPr>
            </a:lvl1pPr>
          </a:lstStyle>
          <a:p>
            <a:pPr algn="l"/>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40080"/>
          </a:xfrm>
          <a:prstGeom prst="rect">
            <a:avLst/>
          </a:prstGeom>
          <a:noFill/>
          <a:ln/>
        </p:spPr>
        <p:txBody>
          <a:bodyPr wrap="square" lIns="0" tIns="0" rIns="0" bIns="0" rtlCol="0" anchor="ctr"/>
          <a:lstStyle/>
          <a:p>
            <a:pPr algn="l" indent="0" marL="0">
              <a:buNone/>
            </a:pPr>
            <a:r>
              <a:rPr lang="en-US" sz="3200" b="1" dirty="0">
                <a:solidFill>
                  <a:schemeClr val="tx2"/>
                </a:solidFill>
              </a:rPr>
              <a:t>Complexity &amp; Applications</a:t>
            </a:r>
            <a:endParaRPr lang="en-US" sz="3200" dirty="0"/>
          </a:p>
        </p:txBody>
      </p:sp>
      <p:sp>
        <p:nvSpPr>
          <p:cNvPr id="3" name="Shape 1"/>
          <p:cNvSpPr/>
          <p:nvPr/>
        </p:nvSpPr>
        <p:spPr>
          <a:xfrm>
            <a:off x="457200" y="1051560"/>
            <a:ext cx="2011680" cy="1188720"/>
          </a:xfrm>
          <a:prstGeom prst="roundRect">
            <a:avLst>
              <a:gd name="adj" fmla="val 6154"/>
            </a:avLst>
          </a:prstGeom>
          <a:solidFill>
            <a:schemeClr val="bg2"/>
          </a:solidFill>
          <a:ln w="12700">
            <a:solidFill>
              <a:schemeClr val="bg2"/>
            </a:solidFill>
            <a:prstDash val="solid"/>
          </a:ln>
        </p:spPr>
      </p:sp>
      <p:sp>
        <p:nvSpPr>
          <p:cNvPr id="4" name="Text 2"/>
          <p:cNvSpPr txBox="1"/>
          <p:nvPr/>
        </p:nvSpPr>
        <p:spPr>
          <a:xfrm>
            <a:off x="457200" y="1188720"/>
            <a:ext cx="2011680" cy="548640"/>
          </a:xfrm>
          <a:prstGeom prst="rect">
            <a:avLst/>
          </a:prstGeom>
          <a:noFill/>
          <a:ln/>
        </p:spPr>
        <p:txBody>
          <a:bodyPr wrap="square" lIns="0" tIns="0" rIns="0" bIns="0" rtlCol="0" anchor="ctr"/>
          <a:lstStyle/>
          <a:p>
            <a:pPr algn="ctr" indent="0" marL="0">
              <a:buNone/>
            </a:pPr>
            <a:r>
              <a:rPr lang="en-US" sz="2800" b="1" dirty="0">
                <a:solidFill>
                  <a:schemeClr val="accent1"/>
                </a:solidFill>
              </a:rPr>
              <a:t>O(m × n)</a:t>
            </a:r>
            <a:endParaRPr lang="en-US" sz="2800" dirty="0"/>
          </a:p>
        </p:txBody>
      </p:sp>
      <p:sp>
        <p:nvSpPr>
          <p:cNvPr id="5" name="Text 3"/>
          <p:cNvSpPr txBox="1"/>
          <p:nvPr/>
        </p:nvSpPr>
        <p:spPr>
          <a:xfrm>
            <a:off x="457200" y="1783080"/>
            <a:ext cx="2011680" cy="274320"/>
          </a:xfrm>
          <a:prstGeom prst="rect">
            <a:avLst/>
          </a:prstGeom>
          <a:noFill/>
          <a:ln/>
        </p:spPr>
        <p:txBody>
          <a:bodyPr wrap="square" lIns="0" tIns="0" rIns="0" bIns="0" rtlCol="0" anchor="t"/>
          <a:lstStyle/>
          <a:p>
            <a:pPr algn="ctr" indent="0" marL="0">
              <a:buNone/>
            </a:pPr>
            <a:r>
              <a:rPr lang="en-US" sz="1300" dirty="0">
                <a:solidFill>
                  <a:schemeClr val="accent6"/>
                </a:solidFill>
              </a:rPr>
              <a:t>Time complexity</a:t>
            </a:r>
            <a:endParaRPr lang="en-US" sz="1300" dirty="0"/>
          </a:p>
        </p:txBody>
      </p:sp>
      <p:sp>
        <p:nvSpPr>
          <p:cNvPr id="6" name="Shape 4"/>
          <p:cNvSpPr/>
          <p:nvPr/>
        </p:nvSpPr>
        <p:spPr>
          <a:xfrm>
            <a:off x="2606040" y="1051560"/>
            <a:ext cx="2011680" cy="1188720"/>
          </a:xfrm>
          <a:prstGeom prst="roundRect">
            <a:avLst>
              <a:gd name="adj" fmla="val 6154"/>
            </a:avLst>
          </a:prstGeom>
          <a:solidFill>
            <a:schemeClr val="bg2"/>
          </a:solidFill>
          <a:ln w="12700">
            <a:solidFill>
              <a:schemeClr val="bg2"/>
            </a:solidFill>
            <a:prstDash val="solid"/>
          </a:ln>
        </p:spPr>
      </p:sp>
      <p:sp>
        <p:nvSpPr>
          <p:cNvPr id="7" name="Text 5"/>
          <p:cNvSpPr txBox="1"/>
          <p:nvPr/>
        </p:nvSpPr>
        <p:spPr>
          <a:xfrm>
            <a:off x="2606040" y="1188720"/>
            <a:ext cx="2011680" cy="548640"/>
          </a:xfrm>
          <a:prstGeom prst="rect">
            <a:avLst/>
          </a:prstGeom>
          <a:noFill/>
          <a:ln/>
        </p:spPr>
        <p:txBody>
          <a:bodyPr wrap="square" lIns="0" tIns="0" rIns="0" bIns="0" rtlCol="0" anchor="ctr"/>
          <a:lstStyle/>
          <a:p>
            <a:pPr algn="ctr" indent="0" marL="0">
              <a:buNone/>
            </a:pPr>
            <a:r>
              <a:rPr lang="en-US" sz="2800" b="1" dirty="0">
                <a:solidFill>
                  <a:schemeClr val="accent1"/>
                </a:solidFill>
              </a:rPr>
              <a:t>O(m × n)</a:t>
            </a:r>
            <a:endParaRPr lang="en-US" sz="2800" dirty="0"/>
          </a:p>
        </p:txBody>
      </p:sp>
      <p:sp>
        <p:nvSpPr>
          <p:cNvPr id="8" name="Text 6"/>
          <p:cNvSpPr txBox="1"/>
          <p:nvPr/>
        </p:nvSpPr>
        <p:spPr>
          <a:xfrm>
            <a:off x="2606040" y="1783080"/>
            <a:ext cx="2011680" cy="274320"/>
          </a:xfrm>
          <a:prstGeom prst="rect">
            <a:avLst/>
          </a:prstGeom>
          <a:noFill/>
          <a:ln/>
        </p:spPr>
        <p:txBody>
          <a:bodyPr wrap="square" lIns="0" tIns="0" rIns="0" bIns="0" rtlCol="0" anchor="t"/>
          <a:lstStyle/>
          <a:p>
            <a:pPr algn="ctr" indent="0" marL="0">
              <a:buNone/>
            </a:pPr>
            <a:r>
              <a:rPr lang="en-US" sz="1300" dirty="0">
                <a:solidFill>
                  <a:schemeClr val="accent6"/>
                </a:solidFill>
              </a:rPr>
              <a:t>Space complexity</a:t>
            </a:r>
            <a:endParaRPr lang="en-US" sz="1300" dirty="0"/>
          </a:p>
        </p:txBody>
      </p:sp>
      <p:sp>
        <p:nvSpPr>
          <p:cNvPr id="9" name="Text 7"/>
          <p:cNvSpPr txBox="1"/>
          <p:nvPr/>
        </p:nvSpPr>
        <p:spPr>
          <a:xfrm>
            <a:off x="4937760" y="1051560"/>
            <a:ext cx="3749040" cy="1188720"/>
          </a:xfrm>
          <a:prstGeom prst="rect">
            <a:avLst/>
          </a:prstGeom>
          <a:noFill/>
          <a:ln/>
        </p:spPr>
        <p:txBody>
          <a:bodyPr wrap="square" lIns="0" tIns="0" rIns="0" bIns="0" rtlCol="0" anchor="ctr"/>
          <a:lstStyle/>
          <a:p>
            <a:pPr indent="0" marL="0">
              <a:buNone/>
            </a:pPr>
            <a:r>
              <a:rPr lang="en-US" sz="1400" dirty="0">
                <a:solidFill>
                  <a:schemeClr val="tx1"/>
                </a:solidFill>
              </a:rPr>
              <a:t>Every one of the (m+1)(n+1) cells is computed once, in constant time, and the full 2D table is stored.</a:t>
            </a:r>
            <a:endParaRPr lang="en-US" sz="1400" dirty="0"/>
          </a:p>
        </p:txBody>
      </p:sp>
      <p:sp>
        <p:nvSpPr>
          <p:cNvPr id="10" name="Text 8"/>
          <p:cNvSpPr txBox="1"/>
          <p:nvPr/>
        </p:nvSpPr>
        <p:spPr>
          <a:xfrm>
            <a:off x="457200" y="2377440"/>
            <a:ext cx="3657600" cy="274320"/>
          </a:xfrm>
          <a:prstGeom prst="rect">
            <a:avLst/>
          </a:prstGeom>
          <a:noFill/>
          <a:ln/>
        </p:spPr>
        <p:txBody>
          <a:bodyPr wrap="square" lIns="0" tIns="0" rIns="0" bIns="0" rtlCol="0" anchor="t"/>
          <a:lstStyle/>
          <a:p>
            <a:pPr indent="0" marL="0">
              <a:buNone/>
            </a:pPr>
            <a:r>
              <a:rPr lang="en-US" sz="1600" b="1" dirty="0">
                <a:solidFill>
                  <a:schemeClr val="tx2"/>
                </a:solidFill>
              </a:rPr>
              <a:t>Applications</a:t>
            </a:r>
            <a:endParaRPr lang="en-US" sz="1600" dirty="0"/>
          </a:p>
        </p:txBody>
      </p:sp>
      <p:sp>
        <p:nvSpPr>
          <p:cNvPr id="11" name="Shape 9"/>
          <p:cNvSpPr/>
          <p:nvPr/>
        </p:nvSpPr>
        <p:spPr>
          <a:xfrm>
            <a:off x="457200" y="2743200"/>
            <a:ext cx="1920240" cy="1051560"/>
          </a:xfrm>
          <a:prstGeom prst="roundRect">
            <a:avLst>
              <a:gd name="adj" fmla="val 6957"/>
            </a:avLst>
          </a:prstGeom>
          <a:solidFill>
            <a:schemeClr val="bg2"/>
          </a:solidFill>
          <a:ln w="12700">
            <a:solidFill>
              <a:schemeClr val="bg2"/>
            </a:solidFill>
            <a:prstDash val="solid"/>
          </a:ln>
        </p:spPr>
      </p:sp>
      <p:sp>
        <p:nvSpPr>
          <p:cNvPr id="12" name="Shape 10"/>
          <p:cNvSpPr/>
          <p:nvPr/>
        </p:nvSpPr>
        <p:spPr>
          <a:xfrm>
            <a:off x="566928" y="2834640"/>
            <a:ext cx="365760" cy="365760"/>
          </a:xfrm>
          <a:prstGeom prst="ellipse">
            <a:avLst/>
          </a:prstGeom>
          <a:solidFill>
            <a:schemeClr val="accent1"/>
          </a:solidFill>
          <a:ln w="12700">
            <a:solidFill>
              <a:schemeClr val="accent1"/>
            </a:solidFill>
            <a:prstDash val="solid"/>
          </a:ln>
        </p:spPr>
      </p:sp>
      <p:pic>
        <p:nvPicPr>
          <p:cNvPr id="13" name="Image 0" descr="preencoded.png">    </p:cNvPr>
          <p:cNvPicPr>
            <a:picLocks noChangeAspect="1"/>
          </p:cNvPicPr>
          <p:nvPr/>
        </p:nvPicPr>
        <p:blipFill>
          <a:blip r:embed="rId1"/>
          <a:stretch>
            <a:fillRect/>
          </a:stretch>
        </p:blipFill>
        <p:spPr>
          <a:xfrm>
            <a:off x="658368" y="2926080"/>
            <a:ext cx="182880" cy="182880"/>
          </a:xfrm>
          <a:prstGeom prst="rect">
            <a:avLst/>
          </a:prstGeom>
        </p:spPr>
      </p:pic>
      <p:sp>
        <p:nvSpPr>
          <p:cNvPr id="14" name="Text 11"/>
          <p:cNvSpPr txBox="1"/>
          <p:nvPr/>
        </p:nvSpPr>
        <p:spPr>
          <a:xfrm>
            <a:off x="566928" y="3255264"/>
            <a:ext cx="1719072" cy="502920"/>
          </a:xfrm>
          <a:prstGeom prst="rect">
            <a:avLst/>
          </a:prstGeom>
          <a:noFill/>
          <a:ln/>
        </p:spPr>
        <p:txBody>
          <a:bodyPr wrap="square" lIns="0" tIns="0" rIns="0" bIns="0" rtlCol="0" anchor="t"/>
          <a:lstStyle/>
          <a:p>
            <a:pPr indent="0" marL="0">
              <a:buNone/>
            </a:pPr>
            <a:r>
              <a:rPr lang="en-US" sz="1200" b="1" dirty="0">
                <a:solidFill>
                  <a:schemeClr val="tx2"/>
                </a:solidFill>
              </a:rPr>
              <a:t>DNA &amp; protein sequence comparison</a:t>
            </a:r>
            <a:endParaRPr lang="en-US" sz="1200" dirty="0"/>
          </a:p>
        </p:txBody>
      </p:sp>
      <p:sp>
        <p:nvSpPr>
          <p:cNvPr id="15" name="Shape 12"/>
          <p:cNvSpPr/>
          <p:nvPr/>
        </p:nvSpPr>
        <p:spPr>
          <a:xfrm>
            <a:off x="2496312" y="2743200"/>
            <a:ext cx="1920240" cy="1051560"/>
          </a:xfrm>
          <a:prstGeom prst="roundRect">
            <a:avLst>
              <a:gd name="adj" fmla="val 6957"/>
            </a:avLst>
          </a:prstGeom>
          <a:solidFill>
            <a:schemeClr val="bg2"/>
          </a:solidFill>
          <a:ln w="12700">
            <a:solidFill>
              <a:schemeClr val="bg2"/>
            </a:solidFill>
            <a:prstDash val="solid"/>
          </a:ln>
        </p:spPr>
      </p:sp>
      <p:sp>
        <p:nvSpPr>
          <p:cNvPr id="16" name="Shape 13"/>
          <p:cNvSpPr/>
          <p:nvPr/>
        </p:nvSpPr>
        <p:spPr>
          <a:xfrm>
            <a:off x="2606040" y="2834640"/>
            <a:ext cx="365760" cy="365760"/>
          </a:xfrm>
          <a:prstGeom prst="ellipse">
            <a:avLst/>
          </a:prstGeom>
          <a:solidFill>
            <a:schemeClr val="accent1"/>
          </a:solidFill>
          <a:ln w="12700">
            <a:solidFill>
              <a:schemeClr val="accent1"/>
            </a:solidFill>
            <a:prstDash val="solid"/>
          </a:ln>
        </p:spPr>
      </p:sp>
      <p:pic>
        <p:nvPicPr>
          <p:cNvPr id="17" name="Image 1" descr="preencoded.png">    </p:cNvPr>
          <p:cNvPicPr>
            <a:picLocks noChangeAspect="1"/>
          </p:cNvPicPr>
          <p:nvPr/>
        </p:nvPicPr>
        <p:blipFill>
          <a:blip r:embed="rId2"/>
          <a:stretch>
            <a:fillRect/>
          </a:stretch>
        </p:blipFill>
        <p:spPr>
          <a:xfrm>
            <a:off x="2697480" y="2926080"/>
            <a:ext cx="182880" cy="182880"/>
          </a:xfrm>
          <a:prstGeom prst="rect">
            <a:avLst/>
          </a:prstGeom>
        </p:spPr>
      </p:pic>
      <p:sp>
        <p:nvSpPr>
          <p:cNvPr id="18" name="Text 14"/>
          <p:cNvSpPr txBox="1"/>
          <p:nvPr/>
        </p:nvSpPr>
        <p:spPr>
          <a:xfrm>
            <a:off x="2606040" y="3255264"/>
            <a:ext cx="1719072" cy="502920"/>
          </a:xfrm>
          <a:prstGeom prst="rect">
            <a:avLst/>
          </a:prstGeom>
          <a:noFill/>
          <a:ln/>
        </p:spPr>
        <p:txBody>
          <a:bodyPr wrap="square" lIns="0" tIns="0" rIns="0" bIns="0" rtlCol="0" anchor="t"/>
          <a:lstStyle/>
          <a:p>
            <a:pPr indent="0" marL="0">
              <a:buNone/>
            </a:pPr>
            <a:r>
              <a:rPr lang="en-US" sz="1200" b="1" dirty="0">
                <a:solidFill>
                  <a:schemeClr val="tx2"/>
                </a:solidFill>
              </a:rPr>
              <a:t>Document &amp; text similarity</a:t>
            </a:r>
            <a:endParaRPr lang="en-US" sz="1200" dirty="0"/>
          </a:p>
        </p:txBody>
      </p:sp>
      <p:sp>
        <p:nvSpPr>
          <p:cNvPr id="19" name="Shape 15"/>
          <p:cNvSpPr/>
          <p:nvPr/>
        </p:nvSpPr>
        <p:spPr>
          <a:xfrm>
            <a:off x="4535424" y="2743200"/>
            <a:ext cx="1920240" cy="1051560"/>
          </a:xfrm>
          <a:prstGeom prst="roundRect">
            <a:avLst>
              <a:gd name="adj" fmla="val 6957"/>
            </a:avLst>
          </a:prstGeom>
          <a:solidFill>
            <a:schemeClr val="bg2"/>
          </a:solidFill>
          <a:ln w="12700">
            <a:solidFill>
              <a:schemeClr val="bg2"/>
            </a:solidFill>
            <a:prstDash val="solid"/>
          </a:ln>
        </p:spPr>
      </p:sp>
      <p:sp>
        <p:nvSpPr>
          <p:cNvPr id="20" name="Shape 16"/>
          <p:cNvSpPr/>
          <p:nvPr/>
        </p:nvSpPr>
        <p:spPr>
          <a:xfrm>
            <a:off x="4645152" y="2834640"/>
            <a:ext cx="365760" cy="365760"/>
          </a:xfrm>
          <a:prstGeom prst="ellipse">
            <a:avLst/>
          </a:prstGeom>
          <a:solidFill>
            <a:schemeClr val="accent1"/>
          </a:solidFill>
          <a:ln w="12700">
            <a:solidFill>
              <a:schemeClr val="accent1"/>
            </a:solidFill>
            <a:prstDash val="solid"/>
          </a:ln>
        </p:spPr>
      </p:sp>
      <p:pic>
        <p:nvPicPr>
          <p:cNvPr id="21" name="Image 2" descr="preencoded.png">    </p:cNvPr>
          <p:cNvPicPr>
            <a:picLocks noChangeAspect="1"/>
          </p:cNvPicPr>
          <p:nvPr/>
        </p:nvPicPr>
        <p:blipFill>
          <a:blip r:embed="rId3"/>
          <a:stretch>
            <a:fillRect/>
          </a:stretch>
        </p:blipFill>
        <p:spPr>
          <a:xfrm>
            <a:off x="4736592" y="2926080"/>
            <a:ext cx="182880" cy="182880"/>
          </a:xfrm>
          <a:prstGeom prst="rect">
            <a:avLst/>
          </a:prstGeom>
        </p:spPr>
      </p:pic>
      <p:sp>
        <p:nvSpPr>
          <p:cNvPr id="22" name="Text 17"/>
          <p:cNvSpPr txBox="1"/>
          <p:nvPr/>
        </p:nvSpPr>
        <p:spPr>
          <a:xfrm>
            <a:off x="4645152" y="3255264"/>
            <a:ext cx="1719072" cy="502920"/>
          </a:xfrm>
          <a:prstGeom prst="rect">
            <a:avLst/>
          </a:prstGeom>
          <a:noFill/>
          <a:ln/>
        </p:spPr>
        <p:txBody>
          <a:bodyPr wrap="square" lIns="0" tIns="0" rIns="0" bIns="0" rtlCol="0" anchor="t"/>
          <a:lstStyle/>
          <a:p>
            <a:pPr indent="0" marL="0">
              <a:buNone/>
            </a:pPr>
            <a:r>
              <a:rPr lang="en-US" sz="1200" b="1" dirty="0">
                <a:solidFill>
                  <a:schemeClr val="tx2"/>
                </a:solidFill>
              </a:rPr>
              <a:t>Change detection in version control</a:t>
            </a:r>
            <a:endParaRPr lang="en-US" sz="1200" dirty="0"/>
          </a:p>
        </p:txBody>
      </p:sp>
      <p:sp>
        <p:nvSpPr>
          <p:cNvPr id="23" name="Shape 18"/>
          <p:cNvSpPr/>
          <p:nvPr/>
        </p:nvSpPr>
        <p:spPr>
          <a:xfrm>
            <a:off x="6574536" y="2743200"/>
            <a:ext cx="1920240" cy="1051560"/>
          </a:xfrm>
          <a:prstGeom prst="roundRect">
            <a:avLst>
              <a:gd name="adj" fmla="val 6957"/>
            </a:avLst>
          </a:prstGeom>
          <a:solidFill>
            <a:schemeClr val="bg2"/>
          </a:solidFill>
          <a:ln w="12700">
            <a:solidFill>
              <a:schemeClr val="bg2"/>
            </a:solidFill>
            <a:prstDash val="solid"/>
          </a:ln>
        </p:spPr>
      </p:sp>
      <p:sp>
        <p:nvSpPr>
          <p:cNvPr id="24" name="Shape 19"/>
          <p:cNvSpPr/>
          <p:nvPr/>
        </p:nvSpPr>
        <p:spPr>
          <a:xfrm>
            <a:off x="6684264" y="2834640"/>
            <a:ext cx="365760" cy="365760"/>
          </a:xfrm>
          <a:prstGeom prst="ellipse">
            <a:avLst/>
          </a:prstGeom>
          <a:solidFill>
            <a:schemeClr val="accent1"/>
          </a:solidFill>
          <a:ln w="12700">
            <a:solidFill>
              <a:schemeClr val="accent1"/>
            </a:solidFill>
            <a:prstDash val="solid"/>
          </a:ln>
        </p:spPr>
      </p:sp>
      <p:pic>
        <p:nvPicPr>
          <p:cNvPr id="25" name="Image 3" descr="preencoded.png">    </p:cNvPr>
          <p:cNvPicPr>
            <a:picLocks noChangeAspect="1"/>
          </p:cNvPicPr>
          <p:nvPr/>
        </p:nvPicPr>
        <p:blipFill>
          <a:blip r:embed="rId4"/>
          <a:stretch>
            <a:fillRect/>
          </a:stretch>
        </p:blipFill>
        <p:spPr>
          <a:xfrm>
            <a:off x="6775704" y="2926080"/>
            <a:ext cx="182880" cy="182880"/>
          </a:xfrm>
          <a:prstGeom prst="rect">
            <a:avLst/>
          </a:prstGeom>
        </p:spPr>
      </p:pic>
      <p:sp>
        <p:nvSpPr>
          <p:cNvPr id="26" name="Text 20"/>
          <p:cNvSpPr txBox="1"/>
          <p:nvPr/>
        </p:nvSpPr>
        <p:spPr>
          <a:xfrm>
            <a:off x="6684264" y="3255264"/>
            <a:ext cx="1719072" cy="502920"/>
          </a:xfrm>
          <a:prstGeom prst="rect">
            <a:avLst/>
          </a:prstGeom>
          <a:noFill/>
          <a:ln/>
        </p:spPr>
        <p:txBody>
          <a:bodyPr wrap="square" lIns="0" tIns="0" rIns="0" bIns="0" rtlCol="0" anchor="t"/>
          <a:lstStyle/>
          <a:p>
            <a:pPr indent="0" marL="0">
              <a:buNone/>
            </a:pPr>
            <a:r>
              <a:rPr lang="en-US" sz="1200" b="1" dirty="0">
                <a:solidFill>
                  <a:schemeClr val="tx2"/>
                </a:solidFill>
              </a:rPr>
              <a:t>Similarity between sequences</a:t>
            </a:r>
            <a:endParaRPr lang="en-US" sz="1200" dirty="0"/>
          </a:p>
        </p:txBody>
      </p:sp>
      <p:sp>
        <p:nvSpPr>
          <p:cNvPr id="27" name="Shape 21"/>
          <p:cNvSpPr/>
          <p:nvPr/>
        </p:nvSpPr>
        <p:spPr>
          <a:xfrm>
            <a:off x="457200" y="3977640"/>
            <a:ext cx="8229600" cy="777240"/>
          </a:xfrm>
          <a:prstGeom prst="roundRect">
            <a:avLst>
              <a:gd name="adj" fmla="val 9412"/>
            </a:avLst>
          </a:prstGeom>
          <a:solidFill>
            <a:schemeClr val="tx2"/>
          </a:solidFill>
          <a:ln w="12700">
            <a:solidFill>
              <a:schemeClr val="tx2"/>
            </a:solidFill>
            <a:prstDash val="solid"/>
          </a:ln>
        </p:spPr>
      </p:sp>
      <p:sp>
        <p:nvSpPr>
          <p:cNvPr id="28" name="Text 22"/>
          <p:cNvSpPr txBox="1"/>
          <p:nvPr/>
        </p:nvSpPr>
        <p:spPr>
          <a:xfrm>
            <a:off x="640080" y="3977640"/>
            <a:ext cx="6309360" cy="777240"/>
          </a:xfrm>
          <a:prstGeom prst="rect">
            <a:avLst/>
          </a:prstGeom>
          <a:noFill/>
          <a:ln/>
        </p:spPr>
        <p:txBody>
          <a:bodyPr wrap="square" lIns="0" tIns="0" rIns="0" bIns="0" rtlCol="0" anchor="ctr"/>
          <a:lstStyle/>
          <a:p>
            <a:pPr indent="0" marL="0">
              <a:buNone/>
            </a:pPr>
            <a:r>
              <a:rPr lang="en-US" sz="1400" b="1" dirty="0">
                <a:solidFill>
                  <a:schemeClr val="accent2"/>
                </a:solidFill>
              </a:rPr>
              <a:t>Conclusion: </a:t>
            </a:r>
            <a:pPr indent="0" marL="0">
              <a:buNone/>
            </a:pPr>
            <a:r>
              <a:rPr lang="en-US" sz="1400" dirty="0">
                <a:solidFill>
                  <a:schemeClr val="bg1"/>
                </a:solidFill>
              </a:rPr>
              <a:t>LCS shows how 2D dynamic programming solves a problem efficiently by storing and reusing subproblem results.</a:t>
            </a:r>
            <a:endParaRPr lang="en-US" sz="1400" dirty="0"/>
          </a:p>
        </p:txBody>
      </p:sp>
      <p:sp>
        <p:nvSpPr>
          <p:cNvPr id="29" name="Text 23"/>
          <p:cNvSpPr txBox="1"/>
          <p:nvPr/>
        </p:nvSpPr>
        <p:spPr>
          <a:xfrm>
            <a:off x="7040880" y="3977640"/>
            <a:ext cx="1463040" cy="777240"/>
          </a:xfrm>
          <a:prstGeom prst="rect">
            <a:avLst/>
          </a:prstGeom>
          <a:noFill/>
          <a:ln/>
        </p:spPr>
        <p:txBody>
          <a:bodyPr wrap="square" lIns="0" tIns="0" rIns="0" bIns="0" rtlCol="0" anchor="ctr"/>
          <a:lstStyle/>
          <a:p>
            <a:pPr algn="r" indent="0" marL="0">
              <a:buNone/>
            </a:pPr>
            <a:r>
              <a:rPr lang="en-US" sz="2000" b="1" dirty="0">
                <a:solidFill>
                  <a:schemeClr val="accent2"/>
                </a:solidFill>
              </a:rPr>
              <a:t>Thank You!</a:t>
            </a:r>
            <a:endParaRPr lang="en-US" sz="20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7A8CA3"/>
                </a:solidFill>
              </a:defRPr>
            </a:lvl1pPr>
          </a:lstStyle>
          <a:p>
            <a:pPr algn="l"/>
            <a:fld id="{F7021451-1387-4CA6-816F-3879F97B5CBC}" type="slidenum">
              <a:rPr b="0" lang="en-US"/>
              <a:t>6</a:t>
            </a:fld>
            <a:endParaRPr lang="en-US"/>
          </a:p>
        </p:txBody>
      </p:sp>
    </p:spTree>
  </p:cSld>
  <p:clrMapOvr>
    <a:masterClrMapping/>
  </p:clrMapOvr>
</p:sld>
</file>

<file path=ppt/theme/theme1.xml><?xml version="1.0" encoding="utf-8"?>
<a:theme xmlns:a="http://schemas.openxmlformats.org/drawingml/2006/main" name="LCS Teal Navy">
  <a:themeElements>
    <a:clrScheme name="LCS Teal Navy">
      <a:dk1>
        <a:srgbClr val="1B2B3A"/>
      </a:dk1>
      <a:lt1>
        <a:srgbClr val="FFFFFF"/>
      </a:lt1>
      <a:dk2>
        <a:srgbClr val="12263A"/>
      </a:dk2>
      <a:lt2>
        <a:srgbClr val="E6F3F3"/>
      </a:lt2>
      <a:accent1>
        <a:srgbClr val="0E7C86"/>
      </a:accent1>
      <a:accent2>
        <a:srgbClr val="F2A33A"/>
      </a:accent2>
      <a:accent3>
        <a:srgbClr val="24506E"/>
      </a:accent3>
      <a:accent4>
        <a:srgbClr val="5FB49C"/>
      </a:accent4>
      <a:accent5>
        <a:srgbClr val="C9D9E3"/>
      </a:accent5>
      <a:accent6>
        <a:srgbClr val="7A8CA3"/>
      </a:accent6>
      <a:hlink>
        <a:srgbClr val="0E7C86"/>
      </a:hlink>
      <a:folHlink>
        <a:srgbClr val="7A8CA3"/>
      </a:folHlink>
    </a:clrScheme>
    <a:fontScheme name="LCS Teal Navy">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Slides>
  <Notes>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vt:i4>
      </vt:variant>
    </vt:vector>
  </HeadingPairs>
  <TitlesOfParts>
    <vt:vector size="9" baseType="lpstr">
      <vt:lpstr>Arial</vt:lpstr>
      <vt:lpstr>Calibri</vt:lpstr>
      <vt:lpstr>Office Theme</vt:lpstr>
      <vt:lpstr>Slide 1</vt:lpstr>
      <vt:lpstr>Slide 2</vt:lpstr>
      <vt:lpstr>Slide 3</vt:lpstr>
      <vt:lpstr>Slide 4</vt:lpstr>
      <vt:lpstr>Slide 5</vt:lpstr>
      <vt:lpstr>Slide 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Longest Common Subsequence (LCS)</dc:title>
  <dc:subject>PptxGenJS Presentation</dc:subject>
  <dc:creator>PptxGenJS</dc:creator>
  <cp:lastModifiedBy>PptxGenJS</cp:lastModifiedBy>
  <cp:revision>1</cp:revision>
  <dcterms:created xsi:type="dcterms:W3CDTF">2026-10-18T14:40:16Z</dcterms:created>
  <dcterms:modified xsi:type="dcterms:W3CDTF">2026-10-18T14:40:16Z</dcterms:modified>
</cp:coreProperties>
</file>